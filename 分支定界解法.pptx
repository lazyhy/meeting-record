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615" r:id="rId3"/>
    <p:sldId id="654" r:id="rId4"/>
    <p:sldId id="701" r:id="rId5"/>
    <p:sldId id="655" r:id="rId6"/>
    <p:sldId id="656" r:id="rId7"/>
    <p:sldId id="680" r:id="rId8"/>
    <p:sldId id="657" r:id="rId9"/>
    <p:sldId id="658" r:id="rId10"/>
    <p:sldId id="659" r:id="rId11"/>
    <p:sldId id="660" r:id="rId12"/>
    <p:sldId id="661" r:id="rId13"/>
    <p:sldId id="662" r:id="rId14"/>
    <p:sldId id="663" r:id="rId15"/>
    <p:sldId id="664" r:id="rId16"/>
    <p:sldId id="665" r:id="rId17"/>
    <p:sldId id="666" r:id="rId18"/>
    <p:sldId id="667" r:id="rId19"/>
    <p:sldId id="668" r:id="rId20"/>
    <p:sldId id="669" r:id="rId21"/>
    <p:sldId id="670" r:id="rId22"/>
    <p:sldId id="732" r:id="rId23"/>
    <p:sldId id="733" r:id="rId24"/>
    <p:sldId id="734" r:id="rId25"/>
    <p:sldId id="617" r:id="rId26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CC"/>
    <a:srgbClr val="3333CC"/>
    <a:srgbClr val="FFFF00"/>
    <a:srgbClr val="996633"/>
    <a:srgbClr val="FF9999"/>
    <a:srgbClr val="CC00FF"/>
    <a:srgbClr val="66FFFF"/>
    <a:srgbClr val="00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579"/>
    <p:restoredTop sz="99313"/>
  </p:normalViewPr>
  <p:slideViewPr>
    <p:cSldViewPr showGuides="1">
      <p:cViewPr>
        <p:scale>
          <a:sx n="50" d="100"/>
          <a:sy n="50" d="100"/>
        </p:scale>
        <p:origin x="-1092" y="-768"/>
      </p:cViewPr>
      <p:guideLst>
        <p:guide orient="horz" pos="2160"/>
        <p:guide pos="288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84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notesMaster" Target="notesMasters/notesMaster1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5" Type="http://schemas.openxmlformats.org/officeDocument/2006/relationships/image" Target="../media/image12.wmf"/><Relationship Id="rId4" Type="http://schemas.openxmlformats.org/officeDocument/2006/relationships/image" Target="../media/image11.wmf"/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11.vml.rels><?xml version="1.0" encoding="UTF-8" standalone="yes"?>
<Relationships xmlns="http://schemas.openxmlformats.org/package/2006/relationships"><Relationship Id="rId4" Type="http://schemas.openxmlformats.org/officeDocument/2006/relationships/image" Target="../media/image34.wmf"/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914" name="页眉占位符 38913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endParaRPr lang="zh-CN" altLang="en-US" sz="1200" dirty="0"/>
          </a:p>
        </p:txBody>
      </p:sp>
      <p:sp>
        <p:nvSpPr>
          <p:cNvPr id="38915" name="日期占位符 38914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/>
            <a:endParaRPr lang="zh-CN" altLang="en-US" sz="1200" dirty="0"/>
          </a:p>
        </p:txBody>
      </p:sp>
      <p:sp>
        <p:nvSpPr>
          <p:cNvPr id="38916" name="幻灯片图像占位符 38915"/>
          <p:cNvSpPr>
            <a:spLocks noRo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8917" name="文本占位符 38916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8918" name="页脚占位符 38917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endParaRPr lang="zh-CN" altLang="en-US" sz="1200" dirty="0"/>
          </a:p>
        </p:txBody>
      </p:sp>
      <p:sp>
        <p:nvSpPr>
          <p:cNvPr id="38919" name="灯片编号占位符 38918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lvl="0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06210" name="矩形 606209" descr="图片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606211" name="标题 606210"/>
          <p:cNvSpPr>
            <a:spLocks noGrp="1"/>
          </p:cNvSpPr>
          <p:nvPr>
            <p:ph type="ctrTitle"/>
          </p:nvPr>
        </p:nvSpPr>
        <p:spPr>
          <a:xfrm>
            <a:off x="685800" y="1068388"/>
            <a:ext cx="7772400" cy="17367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lvl="0">
              <a:buClrTx/>
              <a:buSzTx/>
              <a:buFontTx/>
              <a:defRPr sz="5400" b="0">
                <a:effectLst>
                  <a:outerShdw blurRad="38100" dist="38100" dir="2700000">
                    <a:srgbClr val="C0C0C0"/>
                  </a:outerShdw>
                </a:effectLst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06212" name="副标题 606211"/>
          <p:cNvSpPr>
            <a:spLocks noGrp="1"/>
          </p:cNvSpPr>
          <p:nvPr>
            <p:ph type="subTitle" idx="1"/>
          </p:nvPr>
        </p:nvSpPr>
        <p:spPr>
          <a:xfrm>
            <a:off x="1403350" y="2428875"/>
            <a:ext cx="6400800" cy="14319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>
            <a:lvl1pPr marL="0" lvl="0" indent="0" algn="ctr">
              <a:buClrTx/>
              <a:buSzTx/>
              <a:buFontTx/>
              <a:buNone/>
              <a:defRPr sz="4400">
                <a:effectLst>
                  <a:outerShdw blurRad="38100" dist="38100" dir="2700000">
                    <a:srgbClr val="C0C0C0"/>
                  </a:outerShdw>
                </a:effectLst>
              </a:defRPr>
            </a:lvl1pPr>
            <a:lvl2pPr marL="457200" lvl="1" indent="0" algn="ctr">
              <a:buClrTx/>
              <a:buSzTx/>
              <a:buFontTx/>
              <a:buNone/>
              <a:defRPr sz="4400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defRPr>
            </a:lvl2pPr>
            <a:lvl3pPr marL="914400" lvl="2" indent="0" algn="ctr">
              <a:buClrTx/>
              <a:buSzTx/>
              <a:buFontTx/>
              <a:buNone/>
              <a:defRPr sz="4400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defRPr>
            </a:lvl3pPr>
            <a:lvl4pPr marL="1371600" lvl="3" indent="0" algn="ctr">
              <a:buClrTx/>
              <a:buSzTx/>
              <a:buFontTx/>
              <a:buNone/>
              <a:defRPr sz="4400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defRPr>
            </a:lvl4pPr>
            <a:lvl5pPr marL="1828800" lvl="4" indent="0" algn="ctr">
              <a:buClrTx/>
              <a:buSzTx/>
              <a:buFontTx/>
              <a:buNone/>
              <a:defRPr sz="4400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606213" name="日期占位符 606212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>
              <a:defRPr sz="1400">
                <a:latin typeface="Arial" panose="020B0604020202020204" pitchFamily="34" charset="0"/>
              </a:defRPr>
            </a:lvl1pPr>
          </a:lstStyle>
          <a:p>
            <a:fld id="{BB962C8B-B14F-4D97-AF65-F5344CB8AC3E}" type="datetime1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06214" name="页脚占位符 606213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ctr">
              <a:defRPr sz="1400">
                <a:latin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  <p:transition>
    <p:blinds/>
  </p:transition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</p:spTree>
  </p:cSld>
  <p:clrMapOvr>
    <a:masterClrMapping/>
  </p:clrMapOvr>
  <p:transition>
    <p:blinds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</p:spTree>
  </p:cSld>
  <p:clrMapOvr>
    <a:masterClrMapping/>
  </p:clrMapOvr>
  <p:transition>
    <p:blinds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8313" y="1198563"/>
            <a:ext cx="4032504" cy="482441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5409" y="1198563"/>
            <a:ext cx="4032504" cy="482441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</p:spTree>
  </p:cSld>
  <p:clrMapOvr>
    <a:masterClrMapping/>
  </p:clrMapOvr>
  <p:transition>
    <p:blinds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</p:spTree>
  </p:cSld>
  <p:clrMapOvr>
    <a:masterClrMapping/>
  </p:clrMapOvr>
  <p:transition>
    <p:blinds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</p:spTree>
  </p:cSld>
  <p:clrMapOvr>
    <a:masterClrMapping/>
  </p:clrMapOvr>
  <p:transition>
    <p:blinds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</p:spTree>
  </p:cSld>
  <p:clrMapOvr>
    <a:masterClrMapping/>
  </p:clrMapOvr>
  <p:transition>
    <p:blinds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</p:spTree>
  </p:cSld>
  <p:clrMapOvr>
    <a:masterClrMapping/>
  </p:clrMapOvr>
  <p:transition>
    <p:blinds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</p:spTree>
  </p:cSld>
  <p:clrMapOvr>
    <a:masterClrMapping/>
  </p:clrMapOvr>
  <p:transition>
    <p:blinds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</p:spTree>
  </p:cSld>
  <p:clrMapOvr>
    <a:masterClrMapping/>
  </p:clrMapOvr>
  <p:transition>
    <p:blinds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40513" y="292100"/>
            <a:ext cx="2057400" cy="57308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68313" y="292100"/>
            <a:ext cx="6052930" cy="573087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</p:spTree>
  </p:cSld>
  <p:clrMapOvr>
    <a:masterClrMapping/>
  </p:clrMapOvr>
  <p:transition>
    <p:blinds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29150" y="1825625"/>
            <a:ext cx="3886200" cy="20986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29150" y="4076700"/>
            <a:ext cx="3886200" cy="21002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</p:spTree>
  </p:cSld>
  <p:clrMapOvr>
    <a:masterClrMapping/>
  </p:clrMapOvr>
  <p:transition>
    <p:blinds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</p:spTree>
  </p:cSld>
  <p:clrMapOvr>
    <a:masterClrMapping/>
  </p:clrMapOvr>
  <p:transition>
    <p:blinds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68313" y="292100"/>
            <a:ext cx="8229600" cy="57308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</p:spTree>
  </p:cSld>
  <p:clrMapOvr>
    <a:masterClrMapping/>
  </p:clrMapOvr>
  <p:transition>
    <p:blinds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2.png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05186" name="矩形 605185" descr="图片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15"/>
            <a:stretch>
              <a:fillRect/>
            </a:stretch>
          </a:blip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605187" name="标题 605186"/>
          <p:cNvSpPr>
            <a:spLocks noGrp="1"/>
          </p:cNvSpPr>
          <p:nvPr>
            <p:ph type="title"/>
          </p:nvPr>
        </p:nvSpPr>
        <p:spPr>
          <a:xfrm>
            <a:off x="468313" y="292100"/>
            <a:ext cx="8229600" cy="6381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05188" name="文本占位符 605187"/>
          <p:cNvSpPr>
            <a:spLocks noGrp="1"/>
          </p:cNvSpPr>
          <p:nvPr>
            <p:ph type="body" idx="1"/>
          </p:nvPr>
        </p:nvSpPr>
        <p:spPr>
          <a:xfrm>
            <a:off x="468313" y="1198563"/>
            <a:ext cx="8229600" cy="482441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05189" name="日期占位符 605188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>
                <a:latin typeface="Arial" panose="020B0604020202020204" pitchFamily="34" charset="0"/>
              </a:defRPr>
            </a:lvl1pPr>
          </a:lstStyle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05190" name="页脚占位符 605189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>
                <a:latin typeface="Arial" panose="020B0604020202020204" pitchFamily="34" charset="0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05192" name="矩形 605191"/>
          <p:cNvSpPr/>
          <p:nvPr userDrawn="1"/>
        </p:nvSpPr>
        <p:spPr>
          <a:xfrm>
            <a:off x="0" y="908050"/>
            <a:ext cx="8458200" cy="87313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wrap="none" anchor="ctr" anchorCtr="0"/>
          <a:p>
            <a:pPr lvl="0" algn="ctr"/>
            <a:endParaRPr sz="2400" dirty="0">
              <a:latin typeface="Times New Roman" panose="02020603050405020304" pitchFamily="18" charset="0"/>
            </a:endParaRPr>
          </a:p>
        </p:txBody>
      </p:sp>
      <p:sp>
        <p:nvSpPr>
          <p:cNvPr id="605193" name="文本框 605192"/>
          <p:cNvSpPr txBox="1"/>
          <p:nvPr userDrawn="1"/>
        </p:nvSpPr>
        <p:spPr>
          <a:xfrm>
            <a:off x="7667625" y="469900"/>
            <a:ext cx="1296988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lvl="0">
              <a:spcBef>
                <a:spcPct val="50000"/>
              </a:spcBef>
            </a:pPr>
            <a:r>
              <a:rPr lang="en-US" altLang="zh-CN" sz="1800" b="1">
                <a:solidFill>
                  <a:srgbClr val="003300"/>
                </a:solidFill>
                <a:latin typeface="Times New Roman" panose="02020603050405020304" pitchFamily="18" charset="0"/>
                <a:ea typeface="华文细黑" panose="02010600040101010101" pitchFamily="2" charset="-122"/>
              </a:rPr>
              <a:t>Page </a:t>
            </a:r>
            <a:fld id="{9A0DB2DC-4C9A-4742-B13C-FB6460FD3503}" type="slidenum">
              <a:rPr lang="zh-CN" altLang="en-US" sz="1800" b="1">
                <a:solidFill>
                  <a:srgbClr val="003300"/>
                </a:solidFill>
                <a:latin typeface="Times New Roman" panose="02020603050405020304" pitchFamily="18" charset="0"/>
                <a:ea typeface="华文细黑" panose="02010600040101010101" pitchFamily="2" charset="-122"/>
              </a:rPr>
            </a:fld>
            <a:endParaRPr lang="zh-CN" altLang="en-US" sz="1800" b="1">
              <a:solidFill>
                <a:srgbClr val="003300"/>
              </a:solidFill>
              <a:latin typeface="Times New Roman" panose="02020603050405020304" pitchFamily="18" charset="0"/>
              <a:ea typeface="华文细黑" panose="0201060004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>
    <p:blinds/>
  </p:transition>
  <p:hf hdr="0" ftr="0" dt="0"/>
  <p:txStyles>
    <p:titleStyle>
      <a:lvl1pPr marL="0" lvl="0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3600" b="1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1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1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1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1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1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.vml"/><Relationship Id="rId7" Type="http://schemas.openxmlformats.org/officeDocument/2006/relationships/slideLayout" Target="../slideLayouts/slideLayout12.xml"/><Relationship Id="rId6" Type="http://schemas.openxmlformats.org/officeDocument/2006/relationships/oleObject" Target="../embeddings/oleObject4.bin"/><Relationship Id="rId5" Type="http://schemas.openxmlformats.org/officeDocument/2006/relationships/oleObject" Target="../embeddings/oleObject3.bin"/><Relationship Id="rId4" Type="http://schemas.openxmlformats.org/officeDocument/2006/relationships/image" Target="../media/image6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5.wmf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wmf"/><Relationship Id="rId1" Type="http://schemas.openxmlformats.org/officeDocument/2006/relationships/oleObject" Target="../embeddings/oleObject5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.bin"/><Relationship Id="rId8" Type="http://schemas.openxmlformats.org/officeDocument/2006/relationships/image" Target="../media/image11.wmf"/><Relationship Id="rId7" Type="http://schemas.openxmlformats.org/officeDocument/2006/relationships/oleObject" Target="../embeddings/oleObject9.bin"/><Relationship Id="rId6" Type="http://schemas.openxmlformats.org/officeDocument/2006/relationships/image" Target="../media/image10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9.wmf"/><Relationship Id="rId3" Type="http://schemas.openxmlformats.org/officeDocument/2006/relationships/oleObject" Target="../embeddings/oleObject7.bin"/><Relationship Id="rId2" Type="http://schemas.openxmlformats.org/officeDocument/2006/relationships/image" Target="../media/image8.wmf"/><Relationship Id="rId12" Type="http://schemas.openxmlformats.org/officeDocument/2006/relationships/vmlDrawing" Target="../drawings/vmlDrawing3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2.wmf"/><Relationship Id="rId1" Type="http://schemas.openxmlformats.org/officeDocument/2006/relationships/oleObject" Target="../embeddings/oleObject6.bin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wmf"/><Relationship Id="rId1" Type="http://schemas.openxmlformats.org/officeDocument/2006/relationships/oleObject" Target="../embeddings/oleObject11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6.wmf"/><Relationship Id="rId3" Type="http://schemas.openxmlformats.org/officeDocument/2006/relationships/oleObject" Target="../embeddings/oleObject13.bin"/><Relationship Id="rId2" Type="http://schemas.openxmlformats.org/officeDocument/2006/relationships/image" Target="../media/image15.wmf"/><Relationship Id="rId1" Type="http://schemas.openxmlformats.org/officeDocument/2006/relationships/oleObject" Target="../embeddings/oleObject12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jpe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6.v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9.wmf"/><Relationship Id="rId3" Type="http://schemas.openxmlformats.org/officeDocument/2006/relationships/oleObject" Target="../embeddings/oleObject15.bin"/><Relationship Id="rId2" Type="http://schemas.openxmlformats.org/officeDocument/2006/relationships/image" Target="../media/image18.wmf"/><Relationship Id="rId1" Type="http://schemas.openxmlformats.org/officeDocument/2006/relationships/oleObject" Target="../embeddings/oleObject14.bin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7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1.wmf"/><Relationship Id="rId2" Type="http://schemas.openxmlformats.org/officeDocument/2006/relationships/oleObject" Target="../embeddings/oleObject16.bin"/><Relationship Id="rId1" Type="http://schemas.openxmlformats.org/officeDocument/2006/relationships/image" Target="../media/image20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8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24.wmf"/><Relationship Id="rId3" Type="http://schemas.openxmlformats.org/officeDocument/2006/relationships/oleObject" Target="../embeddings/oleObject18.bin"/><Relationship Id="rId2" Type="http://schemas.openxmlformats.org/officeDocument/2006/relationships/image" Target="../media/image23.wmf"/><Relationship Id="rId1" Type="http://schemas.openxmlformats.org/officeDocument/2006/relationships/oleObject" Target="../embeddings/oleObject17.bin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9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7.wmf"/><Relationship Id="rId3" Type="http://schemas.openxmlformats.org/officeDocument/2006/relationships/oleObject" Target="../embeddings/oleObject21.bin"/><Relationship Id="rId2" Type="http://schemas.openxmlformats.org/officeDocument/2006/relationships/image" Target="../media/image26.wmf"/><Relationship Id="rId1" Type="http://schemas.openxmlformats.org/officeDocument/2006/relationships/oleObject" Target="../embeddings/oleObject20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0.v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30.wmf"/><Relationship Id="rId6" Type="http://schemas.openxmlformats.org/officeDocument/2006/relationships/oleObject" Target="../embeddings/oleObject24.bin"/><Relationship Id="rId5" Type="http://schemas.openxmlformats.org/officeDocument/2006/relationships/image" Target="../media/image29.wmf"/><Relationship Id="rId4" Type="http://schemas.openxmlformats.org/officeDocument/2006/relationships/oleObject" Target="../embeddings/oleObject23.bin"/><Relationship Id="rId3" Type="http://schemas.openxmlformats.org/officeDocument/2006/relationships/image" Target="../media/image28.wmf"/><Relationship Id="rId2" Type="http://schemas.openxmlformats.org/officeDocument/2006/relationships/oleObject" Target="../embeddings/oleObject22.bin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4.wmf"/><Relationship Id="rId8" Type="http://schemas.openxmlformats.org/officeDocument/2006/relationships/oleObject" Target="../embeddings/oleObject28.bin"/><Relationship Id="rId7" Type="http://schemas.openxmlformats.org/officeDocument/2006/relationships/image" Target="../media/image33.wmf"/><Relationship Id="rId6" Type="http://schemas.openxmlformats.org/officeDocument/2006/relationships/oleObject" Target="../embeddings/oleObject27.bin"/><Relationship Id="rId5" Type="http://schemas.openxmlformats.org/officeDocument/2006/relationships/image" Target="../media/image32.wmf"/><Relationship Id="rId4" Type="http://schemas.openxmlformats.org/officeDocument/2006/relationships/oleObject" Target="../embeddings/oleObject26.bin"/><Relationship Id="rId3" Type="http://schemas.openxmlformats.org/officeDocument/2006/relationships/image" Target="../media/image3.png"/><Relationship Id="rId2" Type="http://schemas.openxmlformats.org/officeDocument/2006/relationships/image" Target="../media/image31.wmf"/><Relationship Id="rId11" Type="http://schemas.openxmlformats.org/officeDocument/2006/relationships/vmlDrawing" Target="../drawings/vmlDrawing11.vml"/><Relationship Id="rId10" Type="http://schemas.openxmlformats.org/officeDocument/2006/relationships/slideLayout" Target="../slideLayouts/slideLayout2.xml"/><Relationship Id="rId1" Type="http://schemas.openxmlformats.org/officeDocument/2006/relationships/oleObject" Target="../embeddings/oleObject25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2.v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37.wmf"/><Relationship Id="rId6" Type="http://schemas.openxmlformats.org/officeDocument/2006/relationships/oleObject" Target="../embeddings/oleObject31.bin"/><Relationship Id="rId5" Type="http://schemas.openxmlformats.org/officeDocument/2006/relationships/image" Target="../media/image36.wmf"/><Relationship Id="rId4" Type="http://schemas.openxmlformats.org/officeDocument/2006/relationships/oleObject" Target="../embeddings/oleObject30.bin"/><Relationship Id="rId3" Type="http://schemas.openxmlformats.org/officeDocument/2006/relationships/image" Target="../media/image35.wmf"/><Relationship Id="rId2" Type="http://schemas.openxmlformats.org/officeDocument/2006/relationships/oleObject" Target="../embeddings/oleObject29.bin"/><Relationship Id="rId1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9522" name="标题 619521"/>
          <p:cNvSpPr>
            <a:spLocks noGrp="1"/>
          </p:cNvSpPr>
          <p:nvPr>
            <p:ph type="title"/>
          </p:nvPr>
        </p:nvSpPr>
        <p:spPr/>
        <p:txBody>
          <a:bodyPr anchor="ctr" anchorCtr="0">
            <a:spAutoFit/>
          </a:bodyPr>
          <a:p>
            <a:endParaRPr dirty="0"/>
          </a:p>
        </p:txBody>
      </p:sp>
      <p:sp>
        <p:nvSpPr>
          <p:cNvPr id="619523" name="矩形 619522"/>
          <p:cNvSpPr/>
          <p:nvPr/>
        </p:nvSpPr>
        <p:spPr>
          <a:xfrm>
            <a:off x="611188" y="2565400"/>
            <a:ext cx="8027987" cy="100806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 sz="440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 sz="44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 sz="44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 sz="44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 sz="44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342900" lvl="0" indent="-342900" algn="ctr"/>
            <a:r>
              <a:rPr lang="zh-CN" altLang="en-US" sz="4800" dirty="0"/>
              <a:t>分支定界解法</a:t>
            </a:r>
            <a:endParaRPr lang="zh-CN" altLang="en-US" sz="3600">
              <a:latin typeface="楷体_GB2312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772785" y="4606290"/>
            <a:ext cx="2159635" cy="7715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/>
              <a:t>汇报人：方星</a:t>
            </a:r>
            <a:endParaRPr lang="zh-CN" altLang="en-US" sz="2000"/>
          </a:p>
          <a:p>
            <a:r>
              <a:rPr lang="en-US" altLang="zh-CN" sz="2000"/>
              <a:t>2024</a:t>
            </a:r>
            <a:r>
              <a:rPr lang="zh-CN" altLang="en-US" sz="2000"/>
              <a:t>年</a:t>
            </a:r>
            <a:r>
              <a:rPr lang="en-US" altLang="zh-CN" sz="2000"/>
              <a:t>12</a:t>
            </a:r>
            <a:r>
              <a:rPr lang="zh-CN" altLang="en-US" sz="2000"/>
              <a:t>月</a:t>
            </a:r>
            <a:r>
              <a:rPr lang="en-US" altLang="zh-CN" sz="2000"/>
              <a:t>27</a:t>
            </a:r>
            <a:r>
              <a:rPr lang="zh-CN" altLang="en-US" sz="2000"/>
              <a:t>日</a:t>
            </a:r>
            <a:endParaRPr lang="zh-CN" altLang="en-US" sz="2000"/>
          </a:p>
        </p:txBody>
      </p:sp>
    </p:spTree>
  </p:cSld>
  <p:clrMapOvr>
    <a:masterClrMapping/>
  </p:clrMapOvr>
  <p:transition>
    <p:blinds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8916" name="文本框 678915"/>
          <p:cNvSpPr txBox="1"/>
          <p:nvPr/>
        </p:nvSpPr>
        <p:spPr>
          <a:xfrm>
            <a:off x="323850" y="1052513"/>
            <a:ext cx="8135938" cy="403542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  <a:spcBef>
                <a:spcPct val="20000"/>
              </a:spcBef>
              <a:buClr>
                <a:srgbClr val="CC3300"/>
              </a:buClr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Arial" panose="020B0604020202020204" pitchFamily="34" charset="0"/>
              </a:rPr>
              <a:t>整数线性规划问题的求解方法</a:t>
            </a:r>
            <a:r>
              <a:rPr lang="zh-CN" altLang="en-U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：</a:t>
            </a:r>
            <a:endParaRPr lang="zh-CN" altLang="en-US" sz="24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buSzPct val="75000"/>
              <a:buBlip>
                <a:blip r:embed="rId1"/>
              </a:buBlip>
            </a:pP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400" b="1">
                <a:solidFill>
                  <a:srgbClr val="FF00FF"/>
                </a:solidFill>
                <a:latin typeface="Times New Roman" panose="02020603050405020304" pitchFamily="18" charset="0"/>
              </a:rPr>
              <a:t>1.</a:t>
            </a:r>
            <a:r>
              <a:rPr lang="zh-CN" altLang="en-US" sz="24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分支定界法</a:t>
            </a:r>
            <a:r>
              <a:rPr lang="zh-CN" altLang="en-US" sz="2400" b="1" dirty="0">
                <a:solidFill>
                  <a:srgbClr val="FF00FF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sz="2400" b="1">
                <a:solidFill>
                  <a:srgbClr val="FF00FF"/>
                </a:solidFill>
                <a:latin typeface="Times New Roman" panose="02020603050405020304" pitchFamily="18" charset="0"/>
                <a:ea typeface="楷体_GB2312" pitchFamily="49" charset="-122"/>
              </a:rPr>
              <a:t>branch and bound method</a:t>
            </a:r>
            <a:r>
              <a:rPr lang="zh-CN" altLang="en-US" sz="2400" b="1" dirty="0">
                <a:solidFill>
                  <a:srgbClr val="FF00FF"/>
                </a:solidFill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endParaRPr lang="zh-CN" altLang="en-US" sz="2400" b="1" dirty="0">
              <a:solidFill>
                <a:srgbClr val="FF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    </a:t>
            </a:r>
            <a:r>
              <a:rPr lang="en-US" altLang="zh-CN" sz="2400" b="1">
                <a:latin typeface="宋体" panose="02010600030101010101" pitchFamily="2" charset="-122"/>
              </a:rPr>
              <a:t>——</a:t>
            </a:r>
            <a:r>
              <a:rPr lang="zh-CN" altLang="en-US" sz="2400" b="1" dirty="0">
                <a:latin typeface="Times New Roman" panose="02020603050405020304" pitchFamily="18" charset="0"/>
              </a:rPr>
              <a:t>可用于解纯整数或混合整数规划问题。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buSzPct val="75000"/>
              <a:buBlip>
                <a:blip r:embed="rId1"/>
              </a:buBlip>
            </a:pPr>
            <a:r>
              <a:rPr lang="zh-CN" altLang="en-US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solidFill>
                  <a:srgbClr val="FF00FF"/>
                </a:solidFill>
                <a:latin typeface="Times New Roman" panose="02020603050405020304" pitchFamily="18" charset="0"/>
              </a:rPr>
              <a:t>2.</a:t>
            </a:r>
            <a:r>
              <a:rPr lang="zh-CN" altLang="en-US" sz="24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割平面法</a:t>
            </a:r>
            <a:endParaRPr lang="zh-CN" altLang="en-US" sz="2400" b="1">
              <a:solidFill>
                <a:srgbClr val="FF00FF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buSzPct val="65000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    </a:t>
            </a:r>
            <a:r>
              <a:rPr lang="en-US" altLang="zh-CN" sz="2400" b="1">
                <a:latin typeface="宋体" panose="02010600030101010101" pitchFamily="2" charset="-122"/>
              </a:rPr>
              <a:t>—</a:t>
            </a:r>
            <a:r>
              <a:rPr lang="zh-CN" altLang="en-US" sz="2400" b="1" dirty="0">
                <a:latin typeface="Times New Roman" panose="02020603050405020304" pitchFamily="18" charset="0"/>
              </a:rPr>
              <a:t>可用于解纯整数或混合整数规划问题。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buSzPct val="75000"/>
              <a:buBlip>
                <a:blip r:embed="rId1"/>
              </a:buBlip>
            </a:pPr>
            <a:r>
              <a:rPr lang="zh-CN" altLang="en-US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solidFill>
                  <a:srgbClr val="FF00FF"/>
                </a:solidFill>
                <a:latin typeface="Times New Roman" panose="02020603050405020304" pitchFamily="18" charset="0"/>
              </a:rPr>
              <a:t>3.</a:t>
            </a:r>
            <a:r>
              <a:rPr lang="zh-CN" altLang="en-US" sz="24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隐枚举法</a:t>
            </a:r>
            <a:r>
              <a:rPr lang="en-US" altLang="zh-CN" sz="2400" b="1">
                <a:solidFill>
                  <a:srgbClr val="FF00FF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4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求解“</a:t>
            </a:r>
            <a:r>
              <a:rPr lang="en-US" altLang="zh-CN" sz="2400" b="1">
                <a:solidFill>
                  <a:srgbClr val="FF00FF"/>
                </a:solidFill>
                <a:latin typeface="Times New Roman" panose="02020603050405020304" pitchFamily="18" charset="0"/>
              </a:rPr>
              <a:t>0-1”</a:t>
            </a:r>
            <a:r>
              <a:rPr lang="zh-CN" altLang="en-US" sz="24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整数规划：</a:t>
            </a:r>
            <a:endParaRPr lang="zh-CN" altLang="en-US" sz="2400" b="1" dirty="0">
              <a:solidFill>
                <a:srgbClr val="FF00FF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       </a:t>
            </a:r>
            <a:r>
              <a:rPr lang="en-US" altLang="zh-CN" sz="2400" b="1" dirty="0">
                <a:latin typeface="Times New Roman" panose="02020603050405020304" pitchFamily="18" charset="0"/>
              </a:rPr>
              <a:t>①</a:t>
            </a:r>
            <a:r>
              <a:rPr lang="zh-CN" altLang="en-US" sz="2400" b="1" dirty="0">
                <a:latin typeface="Times New Roman" panose="02020603050405020304" pitchFamily="18" charset="0"/>
              </a:rPr>
              <a:t>过滤隐枚举法； </a:t>
            </a:r>
            <a:r>
              <a:rPr lang="en-US" altLang="zh-CN" sz="2400" b="1" dirty="0">
                <a:latin typeface="Times New Roman" panose="02020603050405020304" pitchFamily="18" charset="0"/>
              </a:rPr>
              <a:t>②</a:t>
            </a:r>
            <a:r>
              <a:rPr lang="zh-CN" altLang="en-US" sz="2400" b="1" dirty="0">
                <a:latin typeface="Times New Roman" panose="02020603050405020304" pitchFamily="18" charset="0"/>
              </a:rPr>
              <a:t>分枝隐枚举法。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buSzPct val="95000"/>
              <a:buBlip>
                <a:blip r:embed="rId1"/>
              </a:buBlip>
            </a:pPr>
            <a:r>
              <a:rPr lang="zh-CN" altLang="en-US">
                <a:latin typeface="Arial" panose="020B0604020202020204" pitchFamily="34" charset="0"/>
              </a:rPr>
              <a:t>  </a:t>
            </a:r>
            <a:r>
              <a:rPr lang="en-US" altLang="zh-CN" sz="2400" b="1">
                <a:solidFill>
                  <a:srgbClr val="FF00FF"/>
                </a:solidFill>
                <a:latin typeface="Times New Roman" panose="02020603050405020304" pitchFamily="18" charset="0"/>
              </a:rPr>
              <a:t>4.</a:t>
            </a:r>
            <a:r>
              <a:rPr lang="zh-CN" altLang="en-US" sz="24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匈牙利法</a:t>
            </a:r>
            <a:r>
              <a:rPr lang="en-US" altLang="zh-CN" sz="2400" b="1">
                <a:solidFill>
                  <a:srgbClr val="FF00FF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4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解决指派问题（“</a:t>
            </a:r>
            <a:r>
              <a:rPr lang="en-US" altLang="zh-CN" sz="2400" b="1">
                <a:solidFill>
                  <a:srgbClr val="FF00FF"/>
                </a:solidFill>
                <a:latin typeface="Times New Roman" panose="02020603050405020304" pitchFamily="18" charset="0"/>
              </a:rPr>
              <a:t>0-1”</a:t>
            </a:r>
            <a:r>
              <a:rPr lang="zh-CN" altLang="en-US" sz="24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规划特殊情形）。</a:t>
            </a:r>
            <a:endParaRPr lang="zh-CN" altLang="en-US" sz="2400" b="1">
              <a:latin typeface="Times New Roman" panose="02020603050405020304" pitchFamily="18" charset="0"/>
            </a:endParaRPr>
          </a:p>
        </p:txBody>
      </p:sp>
      <p:pic>
        <p:nvPicPr>
          <p:cNvPr id="678917" name="图片 678916" descr="52design_com_kr_0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1725" y="1125538"/>
            <a:ext cx="1219200" cy="1219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78920" name="矩形 678919"/>
          <p:cNvSpPr/>
          <p:nvPr/>
        </p:nvSpPr>
        <p:spPr>
          <a:xfrm>
            <a:off x="323850" y="5229225"/>
            <a:ext cx="8351838" cy="968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400" b="1" dirty="0">
                <a:latin typeface="Arial" panose="020B0604020202020204" pitchFamily="34" charset="0"/>
              </a:rPr>
              <a:t>目前所流行的求解整数规划的方法，往往只适用于整数线性规划。目前还没有一种方法能有效地求解一切整数规划。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678922" name="标题 678921"/>
          <p:cNvSpPr>
            <a:spLocks noGrp="1"/>
          </p:cNvSpPr>
          <p:nvPr>
            <p:ph type="title"/>
          </p:nvPr>
        </p:nvSpPr>
        <p:spPr>
          <a:xfrm>
            <a:off x="468313" y="287814"/>
            <a:ext cx="8229600" cy="645160"/>
          </a:xfrm>
        </p:spPr>
        <p:txBody>
          <a:bodyPr anchor="ctr" anchorCtr="0">
            <a:spAutoFit/>
          </a:bodyPr>
          <a:p>
            <a:r>
              <a:rPr lang="en-US" altLang="zh-CN"/>
              <a:t>  </a:t>
            </a:r>
            <a:r>
              <a:rPr lang="zh-CN" altLang="en-US" dirty="0"/>
              <a:t>分支定界解法</a:t>
            </a:r>
            <a:endParaRPr lang="zh-CN" altLang="en-US" dirty="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7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78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8916" grpId="0"/>
      <p:bldP spid="6789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4212" name="矩形 734211"/>
          <p:cNvSpPr/>
          <p:nvPr/>
        </p:nvSpPr>
        <p:spPr>
          <a:xfrm>
            <a:off x="323850" y="1557338"/>
            <a:ext cx="8353425" cy="2867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2400" b="1" dirty="0">
                <a:latin typeface="Tahoma" panose="020B0604030504040204" pitchFamily="34" charset="0"/>
              </a:rPr>
              <a:t>最早的整数规划论文是在</a:t>
            </a:r>
            <a:r>
              <a:rPr lang="en-US" altLang="zh-CN" sz="2400" b="1">
                <a:latin typeface="Times New Roman" panose="02020603050405020304" pitchFamily="18" charset="0"/>
              </a:rPr>
              <a:t>1954</a:t>
            </a:r>
            <a:r>
              <a:rPr lang="zh-CN" altLang="en-US" sz="2400" b="1" dirty="0">
                <a:latin typeface="Tahoma" panose="020B0604030504040204" pitchFamily="34" charset="0"/>
              </a:rPr>
              <a:t>年发表的</a:t>
            </a:r>
            <a:r>
              <a:rPr lang="en-US" altLang="zh-CN" sz="2400" b="1">
                <a:latin typeface="Times New Roman" panose="02020603050405020304" pitchFamily="18" charset="0"/>
              </a:rPr>
              <a:t>,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1959</a:t>
            </a:r>
            <a:r>
              <a:rPr lang="zh-CN" altLang="en-US" sz="2400" b="1" dirty="0">
                <a:latin typeface="Tahoma" panose="020B0604030504040204" pitchFamily="34" charset="0"/>
              </a:rPr>
              <a:t>年美国的</a:t>
            </a:r>
            <a:r>
              <a:rPr lang="en-US" altLang="zh-CN" sz="2400" b="1" err="1">
                <a:latin typeface="Times New Roman" panose="02020603050405020304" pitchFamily="18" charset="0"/>
              </a:rPr>
              <a:t>R.E.Gomory</a:t>
            </a:r>
            <a:r>
              <a:rPr lang="zh-CN" altLang="en-US" sz="2400" b="1" dirty="0">
                <a:latin typeface="Tahoma" panose="020B0604030504040204" pitchFamily="34" charset="0"/>
              </a:rPr>
              <a:t>提出了割平面法</a:t>
            </a:r>
            <a:r>
              <a:rPr lang="en-US" altLang="zh-CN" sz="2400" b="1">
                <a:latin typeface="Tahoma" panose="020B0604030504040204" pitchFamily="34" charset="0"/>
              </a:rPr>
              <a:t>(</a:t>
            </a:r>
            <a:r>
              <a:rPr lang="zh-CN" altLang="en-US" sz="2400" b="1" dirty="0">
                <a:latin typeface="Tahoma" panose="020B0604030504040204" pitchFamily="34" charset="0"/>
              </a:rPr>
              <a:t>依据性质</a:t>
            </a:r>
            <a:r>
              <a:rPr lang="en-US" altLang="zh-CN" sz="2400" b="1">
                <a:latin typeface="Tahoma" panose="020B0604030504040204" pitchFamily="34" charset="0"/>
              </a:rPr>
              <a:t>1),</a:t>
            </a:r>
            <a:r>
              <a:rPr lang="zh-CN" altLang="en-US" sz="2400" b="1" dirty="0">
                <a:latin typeface="Tahoma" panose="020B0604030504040204" pitchFamily="34" charset="0"/>
              </a:rPr>
              <a:t>为</a:t>
            </a:r>
            <a:r>
              <a:rPr lang="en-US" altLang="zh-CN" sz="2400" b="1">
                <a:latin typeface="Times New Roman" panose="02020603050405020304" pitchFamily="18" charset="0"/>
              </a:rPr>
              <a:t>IP</a:t>
            </a:r>
            <a:r>
              <a:rPr lang="zh-CN" altLang="en-US" sz="2400" b="1" dirty="0">
                <a:latin typeface="Tahoma" panose="020B0604030504040204" pitchFamily="34" charset="0"/>
              </a:rPr>
              <a:t>作出了开创性的工作</a:t>
            </a:r>
            <a:r>
              <a:rPr lang="en-US" altLang="zh-CN" sz="2400" b="1">
                <a:latin typeface="Times New Roman" panose="02020603050405020304" pitchFamily="18" charset="0"/>
              </a:rPr>
              <a:t>.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1960</a:t>
            </a:r>
            <a:r>
              <a:rPr lang="zh-CN" altLang="en-US" sz="2400" b="1" dirty="0">
                <a:latin typeface="Tahoma" panose="020B0604030504040204" pitchFamily="34" charset="0"/>
              </a:rPr>
              <a:t>年美国的</a:t>
            </a:r>
            <a:r>
              <a:rPr lang="en-US" altLang="zh-CN" sz="2400" b="1" err="1">
                <a:latin typeface="Times New Roman" panose="02020603050405020304" pitchFamily="18" charset="0"/>
              </a:rPr>
              <a:t>A.Land,A.G.Doig</a:t>
            </a:r>
            <a:r>
              <a:rPr lang="zh-CN" altLang="en-US" sz="2400" b="1" dirty="0">
                <a:latin typeface="Tahoma" panose="020B0604030504040204" pitchFamily="34" charset="0"/>
              </a:rPr>
              <a:t>提出了分枝定界法</a:t>
            </a:r>
            <a:r>
              <a:rPr lang="en-US" altLang="zh-CN" sz="2400" b="1">
                <a:latin typeface="Tahoma" panose="020B0604030504040204" pitchFamily="34" charset="0"/>
              </a:rPr>
              <a:t>(</a:t>
            </a:r>
            <a:r>
              <a:rPr lang="zh-CN" altLang="en-US" sz="2400" b="1" dirty="0">
                <a:latin typeface="Tahoma" panose="020B0604030504040204" pitchFamily="34" charset="0"/>
              </a:rPr>
              <a:t>依据性质</a:t>
            </a:r>
            <a:r>
              <a:rPr lang="en-US" altLang="zh-CN" sz="2400" b="1">
                <a:latin typeface="Times New Roman" panose="02020603050405020304" pitchFamily="18" charset="0"/>
              </a:rPr>
              <a:t>2</a:t>
            </a:r>
            <a:r>
              <a:rPr lang="en-US" altLang="zh-CN" sz="2400" b="1">
                <a:latin typeface="Tahoma" panose="020B0604030504040204" pitchFamily="34" charset="0"/>
              </a:rPr>
              <a:t>),</a:t>
            </a:r>
            <a:r>
              <a:rPr lang="zh-CN" altLang="en-US" sz="2400" b="1" dirty="0">
                <a:latin typeface="Tahoma" panose="020B0604030504040204" pitchFamily="34" charset="0"/>
              </a:rPr>
              <a:t>该方法概念简单</a:t>
            </a:r>
            <a:r>
              <a:rPr lang="en-US" altLang="zh-CN" sz="2400" b="1">
                <a:latin typeface="Tahoma" panose="020B0604030504040204" pitchFamily="34" charset="0"/>
              </a:rPr>
              <a:t>,</a:t>
            </a:r>
            <a:r>
              <a:rPr lang="zh-CN" altLang="en-US" sz="2400" b="1" dirty="0">
                <a:latin typeface="Tahoma" panose="020B0604030504040204" pitchFamily="34" charset="0"/>
              </a:rPr>
              <a:t>方法灵活</a:t>
            </a:r>
            <a:r>
              <a:rPr lang="en-US" altLang="zh-CN" sz="2400" b="1">
                <a:latin typeface="Tahoma" panose="020B0604030504040204" pitchFamily="34" charset="0"/>
              </a:rPr>
              <a:t>,</a:t>
            </a:r>
            <a:r>
              <a:rPr lang="zh-CN" altLang="en-US" sz="2400" b="1" dirty="0">
                <a:latin typeface="Tahoma" panose="020B0604030504040204" pitchFamily="34" charset="0"/>
              </a:rPr>
              <a:t>容易在计算机上运算</a:t>
            </a:r>
            <a:r>
              <a:rPr lang="en-US" altLang="zh-CN" sz="2400" b="1">
                <a:latin typeface="Tahoma" panose="020B0604030504040204" pitchFamily="34" charset="0"/>
              </a:rPr>
              <a:t>,</a:t>
            </a:r>
            <a:r>
              <a:rPr lang="zh-CN" altLang="en-US" sz="2400" b="1" dirty="0">
                <a:latin typeface="Tahoma" panose="020B0604030504040204" pitchFamily="34" charset="0"/>
              </a:rPr>
              <a:t>成为</a:t>
            </a:r>
            <a:r>
              <a:rPr lang="en-US" altLang="zh-CN" sz="2400" b="1">
                <a:latin typeface="Times New Roman" panose="02020603050405020304" pitchFamily="18" charset="0"/>
              </a:rPr>
              <a:t>IP</a:t>
            </a:r>
            <a:r>
              <a:rPr lang="zh-CN" altLang="en-US" sz="2400" b="1" dirty="0">
                <a:latin typeface="Tahoma" panose="020B0604030504040204" pitchFamily="34" charset="0"/>
              </a:rPr>
              <a:t>解法的基础</a:t>
            </a:r>
            <a:r>
              <a:rPr lang="en-US" altLang="zh-CN" sz="2400" b="1">
                <a:latin typeface="Tahoma" panose="020B0604030504040204" pitchFamily="34" charset="0"/>
              </a:rPr>
              <a:t>.</a:t>
            </a:r>
            <a:endParaRPr lang="en-US" altLang="zh-CN" sz="2400" b="1">
              <a:latin typeface="Tahoma" panose="020B0604030504040204" pitchFamily="34" charset="0"/>
            </a:endParaRPr>
          </a:p>
        </p:txBody>
      </p:sp>
      <p:sp>
        <p:nvSpPr>
          <p:cNvPr id="734213" name="标题 734212"/>
          <p:cNvSpPr>
            <a:spLocks noGrp="1"/>
          </p:cNvSpPr>
          <p:nvPr>
            <p:ph type="title"/>
          </p:nvPr>
        </p:nvSpPr>
        <p:spPr>
          <a:xfrm>
            <a:off x="468313" y="287814"/>
            <a:ext cx="8229600" cy="645160"/>
          </a:xfrm>
        </p:spPr>
        <p:txBody>
          <a:bodyPr anchor="ctr" anchorCtr="0">
            <a:spAutoFit/>
          </a:bodyPr>
          <a:p>
            <a:r>
              <a:rPr lang="zh-CN" altLang="en-US" dirty="0"/>
              <a:t>分支定界解法</a:t>
            </a:r>
            <a:endParaRPr lang="zh-CN" altLang="en-US" dirty="0"/>
          </a:p>
        </p:txBody>
      </p:sp>
    </p:spTree>
  </p:cSld>
  <p:clrMapOvr>
    <a:masterClrMapping/>
  </p:clrMapOvr>
  <p:transition>
    <p:blinds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9948" name="标题 679947"/>
          <p:cNvSpPr>
            <a:spLocks noGrp="1"/>
          </p:cNvSpPr>
          <p:nvPr>
            <p:ph type="title"/>
          </p:nvPr>
        </p:nvSpPr>
        <p:spPr>
          <a:xfrm>
            <a:off x="468313" y="287814"/>
            <a:ext cx="8229600" cy="645160"/>
          </a:xfrm>
        </p:spPr>
        <p:txBody>
          <a:bodyPr anchor="ctr" anchorCtr="0">
            <a:spAutoFit/>
          </a:bodyPr>
          <a:p>
            <a:r>
              <a:rPr lang="en-US" altLang="zh-CN"/>
              <a:t> </a:t>
            </a:r>
            <a:r>
              <a:rPr lang="zh-CN" altLang="en-US" dirty="0"/>
              <a:t>分支定界解法</a:t>
            </a:r>
            <a:endParaRPr lang="zh-CN" altLang="en-US" dirty="0"/>
          </a:p>
        </p:txBody>
      </p:sp>
      <p:sp>
        <p:nvSpPr>
          <p:cNvPr id="679950" name="文本框 679949"/>
          <p:cNvSpPr txBox="1"/>
          <p:nvPr/>
        </p:nvSpPr>
        <p:spPr>
          <a:xfrm>
            <a:off x="250825" y="1052513"/>
            <a:ext cx="5041900" cy="53403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  <a:spcBef>
                <a:spcPct val="50000"/>
              </a:spcBef>
              <a:buSzPct val="85000"/>
            </a:pPr>
            <a:r>
              <a:rPr lang="en-US" altLang="zh-CN" sz="2400" b="1">
                <a:solidFill>
                  <a:srgbClr val="A5002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zh-CN" altLang="en-US" sz="2400" b="1" dirty="0">
                <a:solidFill>
                  <a:srgbClr val="A5002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分支定界法的思想：</a:t>
            </a:r>
            <a:endParaRPr lang="zh-CN" altLang="en-US" sz="2400" b="1" dirty="0">
              <a:solidFill>
                <a:srgbClr val="A50021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679962" name="组合 679961"/>
          <p:cNvGrpSpPr/>
          <p:nvPr/>
        </p:nvGrpSpPr>
        <p:grpSpPr>
          <a:xfrm>
            <a:off x="395288" y="1989138"/>
            <a:ext cx="8280400" cy="2232025"/>
            <a:chOff x="249" y="1026"/>
            <a:chExt cx="5216" cy="1406"/>
          </a:xfrm>
        </p:grpSpPr>
        <p:sp>
          <p:nvSpPr>
            <p:cNvPr id="679941" name="矩形 679940"/>
            <p:cNvSpPr/>
            <p:nvPr/>
          </p:nvSpPr>
          <p:spPr>
            <a:xfrm>
              <a:off x="249" y="1026"/>
              <a:ext cx="5216" cy="140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har char="•"/>
                <a:defRPr sz="280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2" charset="-122"/>
                </a:defRPr>
              </a:lvl1pPr>
              <a:lvl2pPr marL="742950" lvl="1" indent="-28575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har char="–"/>
                <a:defRPr sz="24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2" charset="-122"/>
                </a:defRPr>
              </a:lvl2pPr>
              <a:lvl3pPr marL="1143000" lvl="2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har char="•"/>
                <a:defRPr sz="20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2" charset="-122"/>
                </a:defRPr>
              </a:lvl3pPr>
              <a:lvl4pPr marL="1600200" lvl="3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har char="–"/>
                <a:defRPr sz="18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2" charset="-122"/>
                </a:defRPr>
              </a:lvl4pPr>
              <a:lvl5pPr marL="2057400" lvl="4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6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2" charset="-122"/>
                </a:defRPr>
              </a:lvl5pPr>
            </a:lstStyle>
            <a:p>
              <a:pPr lvl="0">
                <a:lnSpc>
                  <a:spcPct val="120000"/>
                </a:lnSpc>
                <a:buNone/>
              </a:pPr>
              <a:r>
                <a:rPr lang="zh-CN" altLang="en-US" sz="2400" b="1" dirty="0">
                  <a:ea typeface="华文细黑" panose="02010600040101010101" pitchFamily="2" charset="-122"/>
                </a:rPr>
                <a:t>考虑最大化整数规划问题</a:t>
              </a:r>
              <a:r>
                <a:rPr lang="en-US" altLang="zh-CN" sz="2400" b="1" i="1">
                  <a:latin typeface="Times New Roman" panose="02020603050405020304" pitchFamily="18" charset="0"/>
                  <a:ea typeface="华文细黑" panose="02010600040101010101" pitchFamily="2" charset="-122"/>
                </a:rPr>
                <a:t>A</a:t>
              </a:r>
              <a:r>
                <a:rPr lang="zh-CN" altLang="en-US" sz="2400" b="1" dirty="0">
                  <a:ea typeface="华文细黑" panose="02010600040101010101" pitchFamily="2" charset="-122"/>
                </a:rPr>
                <a:t>，与它相应的线性规划记为问</a:t>
              </a:r>
              <a:endParaRPr lang="zh-CN" altLang="en-US" sz="2400" b="1" dirty="0">
                <a:ea typeface="华文细黑" panose="02010600040101010101" pitchFamily="2" charset="-122"/>
              </a:endParaRPr>
            </a:p>
            <a:p>
              <a:pPr lvl="0" algn="just">
                <a:lnSpc>
                  <a:spcPct val="120000"/>
                </a:lnSpc>
                <a:buNone/>
              </a:pPr>
              <a:r>
                <a:rPr lang="zh-CN" altLang="en-US" sz="2400" b="1" dirty="0">
                  <a:ea typeface="华文细黑" panose="02010600040101010101" pitchFamily="2" charset="-122"/>
                </a:rPr>
                <a:t>题</a:t>
              </a:r>
              <a:r>
                <a:rPr lang="en-US" altLang="zh-CN" sz="2400" b="1" i="1">
                  <a:latin typeface="Times New Roman" panose="02020603050405020304" pitchFamily="18" charset="0"/>
                  <a:ea typeface="华文细黑" panose="02010600040101010101" pitchFamily="2" charset="-122"/>
                </a:rPr>
                <a:t>B</a:t>
              </a:r>
              <a:r>
                <a:rPr lang="zh-CN" altLang="en-US" sz="2400" b="1" dirty="0">
                  <a:ea typeface="华文细黑" panose="02010600040101010101" pitchFamily="2" charset="-122"/>
                </a:rPr>
                <a:t>。从解问题</a:t>
              </a:r>
              <a:r>
                <a:rPr lang="en-US" altLang="zh-CN" sz="2400" b="1" i="1">
                  <a:latin typeface="Times New Roman" panose="02020603050405020304" pitchFamily="18" charset="0"/>
                  <a:ea typeface="华文细黑" panose="02010600040101010101" pitchFamily="2" charset="-122"/>
                </a:rPr>
                <a:t>B</a:t>
              </a:r>
              <a:r>
                <a:rPr lang="zh-CN" altLang="en-US" sz="2400" b="1" dirty="0">
                  <a:ea typeface="华文细黑" panose="02010600040101010101" pitchFamily="2" charset="-122"/>
                </a:rPr>
                <a:t>开始，若其最优解不符合</a:t>
              </a:r>
              <a:r>
                <a:rPr lang="en-US" altLang="zh-CN" sz="2400" b="1" i="1">
                  <a:latin typeface="Times New Roman" panose="02020603050405020304" pitchFamily="18" charset="0"/>
                  <a:ea typeface="华文细黑" panose="02010600040101010101" pitchFamily="2" charset="-122"/>
                </a:rPr>
                <a:t>A</a:t>
              </a:r>
              <a:r>
                <a:rPr lang="zh-CN" altLang="en-US" sz="2400" b="1" dirty="0">
                  <a:ea typeface="华文细黑" panose="02010600040101010101" pitchFamily="2" charset="-122"/>
                </a:rPr>
                <a:t>的整数条件，那</a:t>
              </a:r>
              <a:endParaRPr lang="zh-CN" altLang="en-US" sz="2400" b="1" dirty="0">
                <a:ea typeface="华文细黑" panose="02010600040101010101" pitchFamily="2" charset="-122"/>
              </a:endParaRPr>
            </a:p>
            <a:p>
              <a:pPr lvl="0" algn="just">
                <a:lnSpc>
                  <a:spcPct val="120000"/>
                </a:lnSpc>
                <a:buNone/>
              </a:pPr>
              <a:r>
                <a:rPr lang="zh-CN" altLang="en-US" sz="2400" b="1" dirty="0">
                  <a:ea typeface="华文细黑" panose="02010600040101010101" pitchFamily="2" charset="-122"/>
                </a:rPr>
                <a:t>么</a:t>
              </a:r>
              <a:r>
                <a:rPr lang="en-US" altLang="zh-CN" sz="2400" b="1" i="1">
                  <a:latin typeface="Times New Roman" panose="02020603050405020304" pitchFamily="18" charset="0"/>
                  <a:ea typeface="华文细黑" panose="02010600040101010101" pitchFamily="2" charset="-122"/>
                </a:rPr>
                <a:t>B</a:t>
              </a:r>
              <a:r>
                <a:rPr lang="zh-CN" altLang="en-US" sz="2400" b="1" dirty="0">
                  <a:ea typeface="华文细黑" panose="02010600040101010101" pitchFamily="2" charset="-122"/>
                </a:rPr>
                <a:t>的最优目标函数必是</a:t>
              </a:r>
              <a:r>
                <a:rPr lang="en-US" altLang="zh-CN" sz="2400" b="1" i="1">
                  <a:latin typeface="Times New Roman" panose="02020603050405020304" pitchFamily="18" charset="0"/>
                  <a:ea typeface="华文细黑" panose="02010600040101010101" pitchFamily="2" charset="-122"/>
                </a:rPr>
                <a:t>A</a:t>
              </a:r>
              <a:r>
                <a:rPr lang="zh-CN" altLang="en-US" sz="2400" b="1" dirty="0">
                  <a:ea typeface="华文细黑" panose="02010600040101010101" pitchFamily="2" charset="-122"/>
                </a:rPr>
                <a:t>的最优目标函数值</a:t>
              </a:r>
              <a:r>
                <a:rPr lang="en-US" altLang="zh-CN" sz="2400" b="1" i="1">
                  <a:latin typeface="Times New Roman" panose="02020603050405020304" pitchFamily="18" charset="0"/>
                  <a:ea typeface="华文细黑" panose="02010600040101010101" pitchFamily="2" charset="-122"/>
                </a:rPr>
                <a:t>z</a:t>
              </a:r>
              <a:r>
                <a:rPr lang="en-US" altLang="zh-CN" sz="2400" b="1">
                  <a:ea typeface="华文细黑" panose="02010600040101010101" pitchFamily="2" charset="-122"/>
                </a:rPr>
                <a:t>*</a:t>
              </a:r>
              <a:r>
                <a:rPr lang="zh-CN" altLang="en-US" sz="2400" b="1" dirty="0">
                  <a:ea typeface="华文细黑" panose="02010600040101010101" pitchFamily="2" charset="-122"/>
                </a:rPr>
                <a:t>的上界，记</a:t>
              </a:r>
              <a:endParaRPr lang="zh-CN" altLang="en-US" sz="2400" b="1" dirty="0">
                <a:ea typeface="华文细黑" panose="02010600040101010101" pitchFamily="2" charset="-122"/>
              </a:endParaRPr>
            </a:p>
            <a:p>
              <a:pPr lvl="0" algn="just">
                <a:lnSpc>
                  <a:spcPct val="120000"/>
                </a:lnSpc>
                <a:buNone/>
              </a:pPr>
              <a:r>
                <a:rPr lang="zh-CN" altLang="en-US" sz="2400" b="1" dirty="0">
                  <a:ea typeface="华文细黑" panose="02010600040101010101" pitchFamily="2" charset="-122"/>
                </a:rPr>
                <a:t>作</a:t>
              </a:r>
              <a:r>
                <a:rPr lang="zh-CN" altLang="en-US" sz="2400" b="1" dirty="0">
                  <a:ea typeface="华文细黑" panose="02010600040101010101" pitchFamily="2" charset="-122"/>
                </a:rPr>
                <a:t>   ；而</a:t>
              </a:r>
              <a:r>
                <a:rPr lang="en-US" altLang="zh-CN" sz="2400" b="1" i="1">
                  <a:latin typeface="Times New Roman" panose="02020603050405020304" pitchFamily="18" charset="0"/>
                  <a:ea typeface="华文细黑" panose="02010600040101010101" pitchFamily="2" charset="-122"/>
                </a:rPr>
                <a:t>A</a:t>
              </a:r>
              <a:r>
                <a:rPr lang="zh-CN" altLang="en-US" sz="2400" b="1" dirty="0">
                  <a:ea typeface="华文细黑" panose="02010600040101010101" pitchFamily="2" charset="-122"/>
                </a:rPr>
                <a:t>的任意可行解的目标函数值将是</a:t>
              </a:r>
              <a:r>
                <a:rPr lang="en-US" altLang="zh-CN" sz="2400" b="1" i="1">
                  <a:latin typeface="Times New Roman" panose="02020603050405020304" pitchFamily="18" charset="0"/>
                  <a:ea typeface="华文细黑" panose="02010600040101010101" pitchFamily="2" charset="-122"/>
                </a:rPr>
                <a:t>z</a:t>
              </a:r>
              <a:r>
                <a:rPr lang="en-US" altLang="zh-CN" sz="2400" b="1">
                  <a:ea typeface="华文细黑" panose="02010600040101010101" pitchFamily="2" charset="-122"/>
                </a:rPr>
                <a:t>*</a:t>
              </a:r>
              <a:r>
                <a:rPr lang="zh-CN" altLang="en-US" sz="2400" b="1" dirty="0">
                  <a:ea typeface="华文细黑" panose="02010600040101010101" pitchFamily="2" charset="-122"/>
                </a:rPr>
                <a:t>的一个下界    。</a:t>
              </a:r>
              <a:endParaRPr lang="zh-CN" altLang="en-US" sz="2400" b="1" dirty="0">
                <a:ea typeface="华文细黑" panose="02010600040101010101" pitchFamily="2" charset="-122"/>
              </a:endParaRPr>
            </a:p>
          </p:txBody>
        </p:sp>
        <p:graphicFrame>
          <p:nvGraphicFramePr>
            <p:cNvPr id="679951" name="对象 679950"/>
            <p:cNvGraphicFramePr/>
            <p:nvPr/>
          </p:nvGraphicFramePr>
          <p:xfrm>
            <a:off x="521" y="2069"/>
            <a:ext cx="136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1" name="" r:id="rId1" imgW="215900" imgH="278765" progId="Equation.DSMT4">
                    <p:embed/>
                  </p:oleObj>
                </mc:Choice>
                <mc:Fallback>
                  <p:oleObj name="" r:id="rId1" imgW="215900" imgH="278765" progId="Equation.DSMT4">
                    <p:embed/>
                    <p:pic>
                      <p:nvPicPr>
                        <p:cNvPr id="0" name="图片 3080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521" y="2069"/>
                          <a:ext cx="136" cy="17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79953" name="对象 679952"/>
            <p:cNvGraphicFramePr/>
            <p:nvPr/>
          </p:nvGraphicFramePr>
          <p:xfrm>
            <a:off x="5012" y="2024"/>
            <a:ext cx="112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" name="" r:id="rId3" imgW="177800" imgH="380365" progId="Equation.DSMT4">
                    <p:embed/>
                  </p:oleObj>
                </mc:Choice>
                <mc:Fallback>
                  <p:oleObj name="" r:id="rId3" imgW="177800" imgH="380365" progId="Equation.DSMT4">
                    <p:embed/>
                    <p:pic>
                      <p:nvPicPr>
                        <p:cNvPr id="0" name="图片 3078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012" y="2024"/>
                          <a:ext cx="112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79963" name="组合 679962"/>
          <p:cNvGrpSpPr/>
          <p:nvPr/>
        </p:nvGrpSpPr>
        <p:grpSpPr>
          <a:xfrm>
            <a:off x="250825" y="4365625"/>
            <a:ext cx="8604250" cy="968375"/>
            <a:chOff x="158" y="2750"/>
            <a:chExt cx="5420" cy="610"/>
          </a:xfrm>
        </p:grpSpPr>
        <p:graphicFrame>
          <p:nvGraphicFramePr>
            <p:cNvPr id="679954" name="对象 679953"/>
            <p:cNvGraphicFramePr/>
            <p:nvPr/>
          </p:nvGraphicFramePr>
          <p:xfrm>
            <a:off x="975" y="3158"/>
            <a:ext cx="136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0" name="" r:id="rId5" imgW="215900" imgH="278765" progId="Equation.DSMT4">
                    <p:embed/>
                  </p:oleObj>
                </mc:Choice>
                <mc:Fallback>
                  <p:oleObj name="" r:id="rId5" imgW="215900" imgH="278765" progId="Equation.DSMT4">
                    <p:embed/>
                    <p:pic>
                      <p:nvPicPr>
                        <p:cNvPr id="0" name="图片 3079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975" y="3158"/>
                          <a:ext cx="136" cy="17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79955" name="对象 679954"/>
            <p:cNvGraphicFramePr/>
            <p:nvPr/>
          </p:nvGraphicFramePr>
          <p:xfrm>
            <a:off x="1746" y="3113"/>
            <a:ext cx="112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8" name="" r:id="rId6" imgW="177800" imgH="380365" progId="Equation.DSMT4">
                    <p:embed/>
                  </p:oleObj>
                </mc:Choice>
                <mc:Fallback>
                  <p:oleObj name="" r:id="rId6" imgW="177800" imgH="380365" progId="Equation.DSMT4">
                    <p:embed/>
                    <p:pic>
                      <p:nvPicPr>
                        <p:cNvPr id="0" name="图片 307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746" y="3113"/>
                          <a:ext cx="112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79960" name="矩形 679959"/>
            <p:cNvSpPr/>
            <p:nvPr/>
          </p:nvSpPr>
          <p:spPr>
            <a:xfrm>
              <a:off x="158" y="2750"/>
              <a:ext cx="5420" cy="6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indent="365125" algn="just">
                <a:lnSpc>
                  <a:spcPct val="120000"/>
                </a:lnSpc>
                <a:spcBef>
                  <a:spcPct val="20000"/>
                </a:spcBef>
                <a:buNone/>
              </a:pPr>
              <a:r>
                <a:rPr lang="zh-CN" altLang="en-US" sz="2400" b="1" dirty="0">
                  <a:latin typeface="Arial" panose="020B0604020202020204" pitchFamily="34" charset="0"/>
                  <a:ea typeface="华文细黑" panose="02010600040101010101" pitchFamily="2" charset="-122"/>
                </a:rPr>
                <a:t>分支定界法就是将</a:t>
              </a:r>
              <a:r>
                <a:rPr lang="en-US" altLang="zh-CN" sz="2400" b="1" i="1">
                  <a:latin typeface="Times New Roman" panose="02020603050405020304" pitchFamily="18" charset="0"/>
                  <a:ea typeface="华文细黑" panose="02010600040101010101" pitchFamily="2" charset="-122"/>
                </a:rPr>
                <a:t>B</a:t>
              </a:r>
              <a:r>
                <a:rPr lang="zh-CN" altLang="en-US" sz="2400" b="1" dirty="0">
                  <a:latin typeface="Arial" panose="020B0604020202020204" pitchFamily="34" charset="0"/>
                  <a:ea typeface="华文细黑" panose="02010600040101010101" pitchFamily="2" charset="-122"/>
                </a:rPr>
                <a:t>的可行域分成子区域</a:t>
              </a:r>
              <a:r>
                <a:rPr lang="en-US" altLang="zh-CN" sz="2400" b="1">
                  <a:latin typeface="Arial" panose="020B0604020202020204" pitchFamily="34" charset="0"/>
                  <a:ea typeface="华文细黑" panose="02010600040101010101" pitchFamily="2" charset="-122"/>
                </a:rPr>
                <a:t>(</a:t>
              </a:r>
              <a:r>
                <a:rPr lang="zh-CN" altLang="en-US" sz="2400" b="1" dirty="0">
                  <a:latin typeface="Arial" panose="020B0604020202020204" pitchFamily="34" charset="0"/>
                  <a:ea typeface="华文细黑" panose="02010600040101010101" pitchFamily="2" charset="-122"/>
                </a:rPr>
                <a:t>称为分支</a:t>
              </a:r>
              <a:r>
                <a:rPr lang="en-US" altLang="zh-CN" sz="2400" b="1">
                  <a:latin typeface="Arial" panose="020B0604020202020204" pitchFamily="34" charset="0"/>
                  <a:ea typeface="华文细黑" panose="02010600040101010101" pitchFamily="2" charset="-122"/>
                </a:rPr>
                <a:t>)</a:t>
              </a:r>
              <a:r>
                <a:rPr lang="zh-CN" altLang="en-US" sz="2400" b="1" dirty="0">
                  <a:latin typeface="Arial" panose="020B0604020202020204" pitchFamily="34" charset="0"/>
                  <a:ea typeface="华文细黑" panose="02010600040101010101" pitchFamily="2" charset="-122"/>
                </a:rPr>
                <a:t>的方法，逐步减小   和增大   ，最终求到</a:t>
              </a:r>
              <a:r>
                <a:rPr lang="en-US" altLang="zh-CN" sz="2400" b="1" i="1">
                  <a:latin typeface="Times New Roman" panose="02020603050405020304" pitchFamily="18" charset="0"/>
                  <a:ea typeface="华文细黑" panose="02010600040101010101" pitchFamily="2" charset="-122"/>
                </a:rPr>
                <a:t>z</a:t>
              </a:r>
              <a:r>
                <a:rPr lang="en-US" altLang="zh-CN" sz="2400" b="1">
                  <a:latin typeface="Arial" panose="020B0604020202020204" pitchFamily="34" charset="0"/>
                  <a:ea typeface="华文细黑" panose="02010600040101010101" pitchFamily="2" charset="-122"/>
                </a:rPr>
                <a:t>*</a:t>
              </a:r>
              <a:r>
                <a:rPr lang="zh-CN" altLang="en-US" sz="2400" b="1" dirty="0">
                  <a:latin typeface="Arial" panose="020B0604020202020204" pitchFamily="34" charset="0"/>
                  <a:ea typeface="华文细黑" panose="02010600040101010101" pitchFamily="2" charset="-122"/>
                </a:rPr>
                <a:t>。</a:t>
              </a:r>
              <a:endParaRPr lang="zh-CN" altLang="en-US" sz="2400" b="1" dirty="0">
                <a:latin typeface="Arial" panose="020B0604020202020204" pitchFamily="34" charset="0"/>
                <a:ea typeface="华文细黑" panose="02010600040101010101" pitchFamily="2" charset="-122"/>
              </a:endParaRPr>
            </a:p>
          </p:txBody>
        </p:sp>
      </p:grp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79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79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0963" name="文本占位符 680962"/>
          <p:cNvSpPr>
            <a:spLocks noGrp="1"/>
          </p:cNvSpPr>
          <p:nvPr>
            <p:ph type="body" idx="1"/>
          </p:nvPr>
        </p:nvSpPr>
        <p:spPr>
          <a:xfrm>
            <a:off x="468313" y="1628775"/>
            <a:ext cx="8675687" cy="3600450"/>
          </a:xfrm>
        </p:spPr>
        <p:txBody>
          <a:bodyPr/>
          <a:p>
            <a:pPr marL="0" indent="0" defTabSz="357505">
              <a:lnSpc>
                <a:spcPct val="120000"/>
              </a:lnSpc>
              <a:buNone/>
            </a:pPr>
            <a:r>
              <a:rPr lang="en-US" altLang="zh-CN" sz="2400" b="1">
                <a:ea typeface="宋体" panose="02010600030101010101" pitchFamily="2" charset="-122"/>
              </a:rPr>
              <a:t>1.</a:t>
            </a:r>
            <a:r>
              <a:rPr lang="zh-CN" altLang="en-US" sz="2400" b="1" dirty="0">
                <a:ea typeface="宋体" panose="02010600030101010101" pitchFamily="2" charset="-122"/>
              </a:rPr>
              <a:t>求整数规划</a:t>
            </a:r>
            <a:r>
              <a:rPr lang="en-US" altLang="zh-CN" sz="2400" b="1" i="1">
                <a:latin typeface="Times New Roman" panose="02020603050405020304" pitchFamily="18" charset="0"/>
                <a:ea typeface="华文细黑" panose="02010600040101010101" pitchFamily="2" charset="-122"/>
              </a:rPr>
              <a:t>IP</a:t>
            </a:r>
            <a:r>
              <a:rPr lang="zh-CN" altLang="en-US" sz="2400" b="1" dirty="0">
                <a:ea typeface="宋体" panose="02010600030101010101" pitchFamily="2" charset="-122"/>
              </a:rPr>
              <a:t>的相应的</a:t>
            </a:r>
            <a:r>
              <a:rPr lang="en-US" altLang="zh-CN" sz="2400" b="1" i="1">
                <a:latin typeface="Times New Roman" panose="02020603050405020304" pitchFamily="18" charset="0"/>
                <a:ea typeface="华文细黑" panose="02010600040101010101" pitchFamily="2" charset="-122"/>
              </a:rPr>
              <a:t>LP</a:t>
            </a:r>
            <a:r>
              <a:rPr lang="zh-CN" altLang="en-US" sz="2400" b="1" dirty="0">
                <a:ea typeface="宋体" panose="02010600030101010101" pitchFamily="2" charset="-122"/>
              </a:rPr>
              <a:t>的最优解；</a:t>
            </a:r>
            <a:endParaRPr lang="zh-CN" altLang="en-US" sz="2400" b="1" dirty="0">
              <a:ea typeface="宋体" panose="02010600030101010101" pitchFamily="2" charset="-122"/>
            </a:endParaRPr>
          </a:p>
          <a:p>
            <a:pPr marL="0" indent="0" defTabSz="357505">
              <a:lnSpc>
                <a:spcPct val="120000"/>
              </a:lnSpc>
              <a:buNone/>
            </a:pPr>
            <a:r>
              <a:rPr lang="en-US" altLang="zh-CN" sz="2400" b="1" dirty="0">
                <a:ea typeface="华文细黑" panose="02010600040101010101" pitchFamily="2" charset="-122"/>
              </a:rPr>
              <a:t>①</a:t>
            </a:r>
            <a:r>
              <a:rPr lang="zh-CN" altLang="en-US" sz="2400" b="1" dirty="0">
                <a:ea typeface="宋体" panose="02010600030101010101" pitchFamily="2" charset="-122"/>
              </a:rPr>
              <a:t>若</a:t>
            </a:r>
            <a:r>
              <a:rPr lang="en-US" altLang="zh-CN" sz="2400" b="1" i="1">
                <a:latin typeface="Times New Roman" panose="02020603050405020304" pitchFamily="18" charset="0"/>
                <a:ea typeface="华文细黑" panose="02010600040101010101" pitchFamily="2" charset="-122"/>
              </a:rPr>
              <a:t>LP</a:t>
            </a:r>
            <a:r>
              <a:rPr lang="zh-CN" altLang="en-US" sz="2400" b="1" dirty="0">
                <a:ea typeface="宋体" panose="02010600030101010101" pitchFamily="2" charset="-122"/>
              </a:rPr>
              <a:t>无可行解，则</a:t>
            </a:r>
            <a:r>
              <a:rPr lang="en-US" altLang="zh-CN" sz="2400" b="1" i="1">
                <a:latin typeface="Times New Roman" panose="02020603050405020304" pitchFamily="18" charset="0"/>
                <a:ea typeface="华文细黑" panose="02010600040101010101" pitchFamily="2" charset="-122"/>
              </a:rPr>
              <a:t>IP</a:t>
            </a:r>
            <a:r>
              <a:rPr lang="zh-CN" altLang="en-US" sz="2400" b="1" dirty="0">
                <a:ea typeface="宋体" panose="02010600030101010101" pitchFamily="2" charset="-122"/>
              </a:rPr>
              <a:t>也没有可行解；</a:t>
            </a:r>
            <a:endParaRPr lang="zh-CN" altLang="en-US" sz="2400" b="1" dirty="0">
              <a:ea typeface="宋体" panose="02010600030101010101" pitchFamily="2" charset="-122"/>
            </a:endParaRPr>
          </a:p>
          <a:p>
            <a:pPr marL="0" indent="0" defTabSz="357505">
              <a:lnSpc>
                <a:spcPct val="120000"/>
              </a:lnSpc>
              <a:buNone/>
            </a:pPr>
            <a:r>
              <a:rPr lang="en-US" altLang="zh-CN" sz="2400" b="1" dirty="0">
                <a:ea typeface="华文细黑" panose="02010600040101010101" pitchFamily="2" charset="-122"/>
              </a:rPr>
              <a:t>②</a:t>
            </a:r>
            <a:r>
              <a:rPr lang="zh-CN" altLang="en-US" sz="2400" b="1" dirty="0">
                <a:ea typeface="宋体" panose="02010600030101010101" pitchFamily="2" charset="-122"/>
              </a:rPr>
              <a:t>若</a:t>
            </a:r>
            <a:r>
              <a:rPr lang="en-US" altLang="zh-CN" sz="2400" b="1" i="1">
                <a:latin typeface="Times New Roman" panose="02020603050405020304" pitchFamily="18" charset="0"/>
                <a:ea typeface="华文细黑" panose="02010600040101010101" pitchFamily="2" charset="-122"/>
              </a:rPr>
              <a:t>LP</a:t>
            </a:r>
            <a:r>
              <a:rPr lang="zh-CN" altLang="en-US" sz="2400" b="1" dirty="0">
                <a:ea typeface="宋体" panose="02010600030101010101" pitchFamily="2" charset="-122"/>
              </a:rPr>
              <a:t>有最优解且满足整数要求，则即为</a:t>
            </a:r>
            <a:r>
              <a:rPr lang="en-US" altLang="zh-CN" sz="2400" b="1" i="1">
                <a:latin typeface="Times New Roman" panose="02020603050405020304" pitchFamily="18" charset="0"/>
                <a:ea typeface="华文细黑" panose="02010600040101010101" pitchFamily="2" charset="-122"/>
              </a:rPr>
              <a:t>IP</a:t>
            </a:r>
            <a:r>
              <a:rPr lang="zh-CN" altLang="en-US" sz="2400" b="1" dirty="0">
                <a:ea typeface="宋体" panose="02010600030101010101" pitchFamily="2" charset="-122"/>
              </a:rPr>
              <a:t>的最优解</a:t>
            </a:r>
            <a:r>
              <a:rPr lang="en-US" altLang="zh-CN" sz="2400" b="1">
                <a:ea typeface="宋体" panose="02010600030101010101" pitchFamily="2" charset="-122"/>
              </a:rPr>
              <a:t>;</a:t>
            </a:r>
            <a:endParaRPr lang="en-US" altLang="zh-CN" sz="2400" b="1">
              <a:ea typeface="宋体" panose="02010600030101010101" pitchFamily="2" charset="-122"/>
            </a:endParaRPr>
          </a:p>
          <a:p>
            <a:pPr marL="0" indent="0" defTabSz="357505">
              <a:lnSpc>
                <a:spcPct val="120000"/>
              </a:lnSpc>
              <a:buNone/>
            </a:pPr>
            <a:r>
              <a:rPr lang="en-US" altLang="zh-CN" sz="2400" b="1"/>
              <a:t>③</a:t>
            </a:r>
            <a:r>
              <a:rPr lang="zh-CN" altLang="en-US" sz="2400" b="1" dirty="0">
                <a:ea typeface="宋体" panose="02010600030101010101" pitchFamily="2" charset="-122"/>
              </a:rPr>
              <a:t>若</a:t>
            </a:r>
            <a:r>
              <a:rPr lang="en-US" altLang="zh-CN" sz="2400" b="1" i="1">
                <a:latin typeface="Times New Roman" panose="02020603050405020304" pitchFamily="18" charset="0"/>
                <a:ea typeface="华文细黑" panose="02010600040101010101" pitchFamily="2" charset="-122"/>
              </a:rPr>
              <a:t>LP</a:t>
            </a:r>
            <a:r>
              <a:rPr lang="zh-CN" altLang="en-US" sz="2400" b="1" dirty="0">
                <a:ea typeface="宋体" panose="02010600030101010101" pitchFamily="2" charset="-122"/>
              </a:rPr>
              <a:t>有最优解但不满足整数要求，则转下一步；</a:t>
            </a:r>
            <a:endParaRPr lang="zh-CN" altLang="en-US" sz="2400" b="1" dirty="0">
              <a:ea typeface="宋体" panose="02010600030101010101" pitchFamily="2" charset="-122"/>
            </a:endParaRPr>
          </a:p>
          <a:p>
            <a:pPr marL="0" indent="0" defTabSz="357505">
              <a:lnSpc>
                <a:spcPct val="120000"/>
              </a:lnSpc>
              <a:buNone/>
            </a:pPr>
            <a:r>
              <a:rPr lang="en-US" altLang="zh-CN" sz="2400" b="1">
                <a:ea typeface="宋体" panose="02010600030101010101" pitchFamily="2" charset="-122"/>
              </a:rPr>
              <a:t>2. </a:t>
            </a:r>
            <a:r>
              <a:rPr lang="zh-CN" altLang="en-US" sz="2400" b="1" dirty="0">
                <a:ea typeface="宋体" panose="02010600030101010101" pitchFamily="2" charset="-122"/>
              </a:rPr>
              <a:t>进行迭代：</a:t>
            </a:r>
            <a:endParaRPr lang="zh-CN" altLang="en-US" sz="2400" b="1" dirty="0">
              <a:ea typeface="宋体" panose="02010600030101010101" pitchFamily="2" charset="-122"/>
            </a:endParaRPr>
          </a:p>
          <a:p>
            <a:pPr marL="0" indent="0" defTabSz="357505">
              <a:lnSpc>
                <a:spcPct val="120000"/>
              </a:lnSpc>
              <a:buNone/>
            </a:pPr>
            <a:r>
              <a:rPr lang="en-US" altLang="zh-CN" sz="2400" b="1" dirty="0">
                <a:ea typeface="华文细黑" panose="02010600040101010101" pitchFamily="2" charset="-122"/>
              </a:rPr>
              <a:t>①</a:t>
            </a:r>
            <a:r>
              <a:rPr lang="zh-CN" altLang="en-US" sz="2400" b="1" dirty="0">
                <a:ea typeface="宋体" panose="02010600030101010101" pitchFamily="2" charset="-122"/>
              </a:rPr>
              <a:t>分支与定界：在</a:t>
            </a:r>
            <a:r>
              <a:rPr lang="en-US" altLang="zh-CN" sz="2400" b="1" i="1">
                <a:latin typeface="Times New Roman" panose="02020603050405020304" pitchFamily="18" charset="0"/>
                <a:ea typeface="华文细黑" panose="02010600040101010101" pitchFamily="2" charset="-122"/>
              </a:rPr>
              <a:t>LP</a:t>
            </a:r>
            <a:r>
              <a:rPr lang="zh-CN" altLang="en-US" sz="2400" b="1" dirty="0">
                <a:ea typeface="宋体" panose="02010600030101010101" pitchFamily="2" charset="-122"/>
              </a:rPr>
              <a:t>的最优解中任选一个非整数解的变量</a:t>
            </a:r>
            <a:r>
              <a:rPr lang="zh-CN" altLang="en-US" sz="2400" b="1" dirty="0">
                <a:ea typeface="华文细黑" panose="02010600040101010101" pitchFamily="2" charset="-122"/>
              </a:rPr>
              <a:t>              </a:t>
            </a:r>
            <a:r>
              <a:rPr lang="en-US" altLang="zh-CN" sz="2400" b="1" i="1">
                <a:latin typeface="Times New Roman" panose="02020603050405020304" pitchFamily="18" charset="0"/>
                <a:ea typeface="华文细黑" panose="02010600040101010101" pitchFamily="2" charset="-122"/>
              </a:rPr>
              <a:t>x</a:t>
            </a:r>
            <a:r>
              <a:rPr lang="en-US" altLang="zh-CN" sz="2400" b="1" i="1" baseline="-25000">
                <a:latin typeface="Times New Roman" panose="02020603050405020304" pitchFamily="18" charset="0"/>
                <a:ea typeface="华文细黑" panose="02010600040101010101" pitchFamily="2" charset="-122"/>
              </a:rPr>
              <a:t>i </a:t>
            </a:r>
            <a:r>
              <a:rPr lang="en-US" altLang="zh-CN" sz="2400"/>
              <a:t>=</a:t>
            </a:r>
            <a:r>
              <a:rPr lang="en-US" altLang="zh-CN" sz="2400" b="1" i="1">
                <a:latin typeface="Times New Roman" panose="02020603050405020304" pitchFamily="18" charset="0"/>
                <a:ea typeface="华文细黑" panose="02010600040101010101" pitchFamily="2" charset="-122"/>
              </a:rPr>
              <a:t>b</a:t>
            </a:r>
            <a:r>
              <a:rPr lang="en-US" altLang="zh-CN" sz="2400" b="1">
                <a:ea typeface="宋体" panose="02010600030101010101" pitchFamily="2" charset="-122"/>
              </a:rPr>
              <a:t>,</a:t>
            </a:r>
            <a:r>
              <a:rPr lang="zh-CN" altLang="en-US" sz="2400" b="1" dirty="0">
                <a:ea typeface="宋体" panose="02010600030101010101" pitchFamily="2" charset="-122"/>
              </a:rPr>
              <a:t>在</a:t>
            </a:r>
            <a:r>
              <a:rPr lang="en-US" altLang="zh-CN" sz="2400" b="1" i="1">
                <a:latin typeface="Times New Roman" panose="02020603050405020304" pitchFamily="18" charset="0"/>
                <a:ea typeface="华文细黑" panose="02010600040101010101" pitchFamily="2" charset="-122"/>
              </a:rPr>
              <a:t>LP</a:t>
            </a:r>
            <a:r>
              <a:rPr lang="zh-CN" altLang="en-US" sz="2400" b="1" dirty="0">
                <a:ea typeface="宋体" panose="02010600030101010101" pitchFamily="2" charset="-122"/>
              </a:rPr>
              <a:t>问题加上约束：</a:t>
            </a:r>
            <a:endParaRPr lang="zh-CN" altLang="en-US" sz="2400" b="1" dirty="0">
              <a:ea typeface="宋体" panose="02010600030101010101" pitchFamily="2" charset="-122"/>
            </a:endParaRPr>
          </a:p>
        </p:txBody>
      </p:sp>
      <p:sp>
        <p:nvSpPr>
          <p:cNvPr id="680964" name="文本框 680963"/>
          <p:cNvSpPr txBox="1"/>
          <p:nvPr/>
        </p:nvSpPr>
        <p:spPr>
          <a:xfrm>
            <a:off x="323850" y="1052513"/>
            <a:ext cx="7056438" cy="53403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  <a:spcBef>
                <a:spcPct val="50000"/>
              </a:spcBef>
              <a:buSzPct val="85000"/>
            </a:pPr>
            <a:r>
              <a:rPr lang="zh-CN" altLang="en-US" sz="2400" b="1" dirty="0">
                <a:solidFill>
                  <a:srgbClr val="A5002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分支定界法的解题步骤：</a:t>
            </a:r>
            <a:endParaRPr lang="zh-CN" altLang="en-US" sz="2400" b="1" dirty="0">
              <a:solidFill>
                <a:srgbClr val="A50021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80966" name="标题 680965"/>
          <p:cNvSpPr>
            <a:spLocks noGrp="1"/>
          </p:cNvSpPr>
          <p:nvPr>
            <p:ph type="title"/>
          </p:nvPr>
        </p:nvSpPr>
        <p:spPr>
          <a:xfrm>
            <a:off x="468313" y="288608"/>
            <a:ext cx="8229600" cy="645160"/>
          </a:xfrm>
        </p:spPr>
        <p:txBody>
          <a:bodyPr anchor="ctr" anchorCtr="0">
            <a:spAutoFit/>
          </a:bodyPr>
          <a:p>
            <a:r>
              <a:rPr lang="en-US" altLang="zh-CN"/>
              <a:t> </a:t>
            </a:r>
            <a:r>
              <a:rPr lang="zh-CN" altLang="en-US" dirty="0"/>
              <a:t>分支定界解法</a:t>
            </a:r>
            <a:endParaRPr lang="zh-CN" altLang="en-US" dirty="0"/>
          </a:p>
        </p:txBody>
      </p:sp>
      <p:sp>
        <p:nvSpPr>
          <p:cNvPr id="680968" name="矩形 680967"/>
          <p:cNvSpPr/>
          <p:nvPr/>
        </p:nvSpPr>
        <p:spPr>
          <a:xfrm>
            <a:off x="468313" y="5876925"/>
            <a:ext cx="60483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b="1" dirty="0">
                <a:latin typeface="宋体" panose="02010600030101010101" pitchFamily="2" charset="-122"/>
              </a:rPr>
              <a:t>组成两个新的</a:t>
            </a:r>
            <a:r>
              <a:rPr lang="en-US" altLang="zh-CN" sz="2400" b="1" i="1">
                <a:latin typeface="Times New Roman" panose="02020603050405020304" pitchFamily="18" charset="0"/>
                <a:ea typeface="华文细黑" panose="02010600040101010101" pitchFamily="2" charset="-122"/>
              </a:rPr>
              <a:t>LP</a:t>
            </a:r>
            <a:r>
              <a:rPr lang="zh-CN" altLang="en-US" sz="2400" b="1" dirty="0">
                <a:latin typeface="宋体" panose="02010600030101010101" pitchFamily="2" charset="-122"/>
              </a:rPr>
              <a:t>问题，称为分枝。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680971" name="对象 680970"/>
          <p:cNvGraphicFramePr/>
          <p:nvPr/>
        </p:nvGraphicFramePr>
        <p:xfrm>
          <a:off x="3132138" y="5229225"/>
          <a:ext cx="2451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" imgW="2449830" imgH="393700" progId="Equation.DSMT4">
                  <p:embed/>
                </p:oleObj>
              </mc:Choice>
              <mc:Fallback>
                <p:oleObj name="" r:id="rId1" imgW="2449830" imgH="393700" progId="Equation.DSMT4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132138" y="5229225"/>
                        <a:ext cx="24511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3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80963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3">
                                            <p:txEl>
                                              <p:charRg st="21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80963">
                                            <p:txEl>
                                              <p:charRg st="21" end="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3">
                                            <p:txEl>
                                              <p:charRg st="41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80963">
                                            <p:txEl>
                                              <p:charRg st="41" end="6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3">
                                            <p:txEl>
                                              <p:charRg st="68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80963">
                                            <p:txEl>
                                              <p:charRg st="68" end="9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3">
                                            <p:txEl>
                                              <p:charRg st="92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80963">
                                            <p:txEl>
                                              <p:charRg st="92" end="10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3">
                                            <p:txEl>
                                              <p:charRg st="101" end="1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680963">
                                            <p:txEl>
                                              <p:charRg st="101" end="15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680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680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096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5539" name="文本占位符 705538"/>
          <p:cNvSpPr>
            <a:spLocks noGrp="1"/>
          </p:cNvSpPr>
          <p:nvPr>
            <p:ph type="body" idx="1"/>
          </p:nvPr>
        </p:nvSpPr>
        <p:spPr>
          <a:xfrm>
            <a:off x="179388" y="1196975"/>
            <a:ext cx="8496300" cy="2160588"/>
          </a:xfrm>
        </p:spPr>
        <p:txBody>
          <a:bodyPr/>
          <a:p>
            <a:pPr marL="0" indent="0">
              <a:lnSpc>
                <a:spcPct val="120000"/>
              </a:lnSpc>
              <a:buNone/>
            </a:pPr>
            <a:r>
              <a:rPr lang="zh-CN" altLang="en-US" sz="2400" b="1" dirty="0">
                <a:ea typeface="宋体" panose="02010600030101010101" pitchFamily="2" charset="-122"/>
              </a:rPr>
              <a:t>定界：新的</a:t>
            </a: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</a:rPr>
              <a:t>LP</a:t>
            </a:r>
            <a:r>
              <a:rPr lang="zh-CN" altLang="en-US" sz="2400" b="1" dirty="0">
                <a:ea typeface="宋体" panose="02010600030101010101" pitchFamily="2" charset="-122"/>
              </a:rPr>
              <a:t>问题具有特征：</a:t>
            </a:r>
            <a:endParaRPr lang="zh-CN" altLang="en-US" sz="2400" b="1" dirty="0">
              <a:ea typeface="宋体" panose="02010600030101010101" pitchFamily="2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b="1" dirty="0">
                <a:ea typeface="宋体" panose="02010600030101010101" pitchFamily="2" charset="-122"/>
              </a:rPr>
              <a:t>当原问题是求最大值时，目标值是分枝问题的上界；</a:t>
            </a:r>
            <a:endParaRPr lang="zh-CN" altLang="en-US" sz="2400" b="1" dirty="0">
              <a:ea typeface="宋体" panose="02010600030101010101" pitchFamily="2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b="1" dirty="0">
                <a:ea typeface="宋体" panose="02010600030101010101" pitchFamily="2" charset="-122"/>
              </a:rPr>
              <a:t>当原问题是求最小值时，目标值是分枝问题的下界。</a:t>
            </a:r>
            <a:endParaRPr lang="zh-CN" altLang="en-US" sz="2400" b="1" dirty="0">
              <a:ea typeface="宋体" panose="02010600030101010101" pitchFamily="2" charset="-122"/>
            </a:endParaRPr>
          </a:p>
          <a:p>
            <a:pPr marL="0" indent="0">
              <a:lnSpc>
                <a:spcPct val="120000"/>
              </a:lnSpc>
              <a:spcAft>
                <a:spcPct val="20000"/>
              </a:spcAft>
              <a:buNone/>
            </a:pPr>
            <a:r>
              <a:rPr lang="en-US" altLang="zh-CN" sz="2400" b="1" dirty="0">
                <a:ea typeface="宋体" panose="02010600030101010101" pitchFamily="2" charset="-122"/>
              </a:rPr>
              <a:t>②</a:t>
            </a:r>
            <a:r>
              <a:rPr lang="zh-CN" altLang="en-US" sz="2400" b="1" dirty="0">
                <a:ea typeface="宋体" panose="02010600030101010101" pitchFamily="2" charset="-122"/>
              </a:rPr>
              <a:t>比较与剪枝：检查所有分枝的解及目标函数值，</a:t>
            </a:r>
            <a:endParaRPr lang="zh-CN" altLang="en-US" sz="2400" b="1" dirty="0">
              <a:ea typeface="宋体" panose="02010600030101010101" pitchFamily="2" charset="-122"/>
            </a:endParaRPr>
          </a:p>
          <a:p>
            <a:pPr marL="0" indent="0">
              <a:lnSpc>
                <a:spcPct val="120000"/>
              </a:lnSpc>
              <a:spcAft>
                <a:spcPct val="20000"/>
              </a:spcAft>
              <a:buNone/>
            </a:pPr>
            <a:endParaRPr lang="zh-CN" altLang="en-US" sz="2400" b="1" dirty="0">
              <a:ea typeface="宋体" panose="02010600030101010101" pitchFamily="2" charset="-122"/>
            </a:endParaRPr>
          </a:p>
        </p:txBody>
      </p:sp>
      <p:sp>
        <p:nvSpPr>
          <p:cNvPr id="705540" name="标题 705539"/>
          <p:cNvSpPr>
            <a:spLocks noGrp="1"/>
          </p:cNvSpPr>
          <p:nvPr>
            <p:ph type="title"/>
          </p:nvPr>
        </p:nvSpPr>
        <p:spPr>
          <a:xfrm>
            <a:off x="468313" y="287814"/>
            <a:ext cx="8229600" cy="645160"/>
          </a:xfrm>
        </p:spPr>
        <p:txBody>
          <a:bodyPr anchor="ctr" anchorCtr="0">
            <a:spAutoFit/>
          </a:bodyPr>
          <a:p>
            <a:r>
              <a:rPr lang="en-US" altLang="zh-CN"/>
              <a:t> </a:t>
            </a:r>
            <a:r>
              <a:rPr lang="zh-CN" altLang="en-US" dirty="0"/>
              <a:t>分支定界解法</a:t>
            </a:r>
            <a:endParaRPr lang="zh-CN" altLang="en-US" dirty="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39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05539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39">
                                            <p:txEl>
                                              <p:charRg st="15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05539">
                                            <p:txEl>
                                              <p:charRg st="15" end="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39">
                                            <p:txEl>
                                              <p:charRg st="39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05539">
                                            <p:txEl>
                                              <p:charRg st="39" end="6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39">
                                            <p:txEl>
                                              <p:charRg st="63" end="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05539">
                                            <p:txEl>
                                              <p:charRg st="63" end="8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1987" name="矩形 681986"/>
          <p:cNvSpPr/>
          <p:nvPr/>
        </p:nvSpPr>
        <p:spPr>
          <a:xfrm>
            <a:off x="179388" y="1125538"/>
            <a:ext cx="3743325" cy="7207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800" u="none" kern="12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5pPr>
          </a:lstStyle>
          <a:p>
            <a:pPr lvl="0">
              <a:buNone/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求解整数规划问题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81989" name="标题 681988"/>
          <p:cNvSpPr>
            <a:spLocks noGrp="1"/>
          </p:cNvSpPr>
          <p:nvPr>
            <p:ph type="title"/>
          </p:nvPr>
        </p:nvSpPr>
        <p:spPr>
          <a:xfrm>
            <a:off x="468313" y="287814"/>
            <a:ext cx="8229600" cy="645160"/>
          </a:xfrm>
        </p:spPr>
        <p:txBody>
          <a:bodyPr anchor="ctr" anchorCtr="0">
            <a:spAutoFit/>
          </a:bodyPr>
          <a:p>
            <a:r>
              <a:rPr lang="zh-CN" altLang="en-US" dirty="0"/>
              <a:t>分支定界解法</a:t>
            </a:r>
            <a:endParaRPr lang="zh-CN" altLang="en-US" dirty="0"/>
          </a:p>
        </p:txBody>
      </p:sp>
      <p:sp>
        <p:nvSpPr>
          <p:cNvPr id="681991" name="矩形 681990"/>
          <p:cNvSpPr/>
          <p:nvPr/>
        </p:nvSpPr>
        <p:spPr>
          <a:xfrm>
            <a:off x="250825" y="3213100"/>
            <a:ext cx="504031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buNone/>
            </a:pPr>
            <a:r>
              <a:rPr lang="zh-CN" altLang="en-US" sz="240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解：解相应的线性规划</a:t>
            </a:r>
            <a:r>
              <a:rPr lang="en-US" altLang="zh-CN" sz="2400" b="1" i="1">
                <a:latin typeface="Times New Roman" panose="02020603050405020304" pitchFamily="18" charset="0"/>
                <a:ea typeface="华文细黑" panose="02010600040101010101" pitchFamily="2" charset="-122"/>
              </a:rPr>
              <a:t>B</a:t>
            </a:r>
            <a:r>
              <a:rPr lang="zh-CN" altLang="en-US" sz="240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，</a:t>
            </a:r>
            <a:r>
              <a:rPr lang="zh-CN" altLang="en-US" dirty="0">
                <a:solidFill>
                  <a:srgbClr val="000000"/>
                </a:solidFill>
                <a:latin typeface="Arial" panose="020B0604020202020204" pitchFamily="34" charset="0"/>
                <a:ea typeface="华文细黑" panose="02010600040101010101" pitchFamily="2" charset="-122"/>
              </a:rPr>
              <a:t> </a:t>
            </a:r>
            <a:r>
              <a:rPr lang="zh-CN" altLang="en-US" sz="240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得最优解</a:t>
            </a:r>
            <a:endParaRPr lang="zh-CN" altLang="en-US" dirty="0">
              <a:solidFill>
                <a:srgbClr val="000000"/>
              </a:solidFill>
              <a:latin typeface="Arial" panose="020B0604020202020204" pitchFamily="34" charset="0"/>
              <a:ea typeface="华文细黑" panose="02010600040101010101" pitchFamily="2" charset="-122"/>
            </a:endParaRPr>
          </a:p>
        </p:txBody>
      </p:sp>
      <p:sp>
        <p:nvSpPr>
          <p:cNvPr id="681992" name="矩形 681991"/>
          <p:cNvSpPr/>
          <p:nvPr/>
        </p:nvSpPr>
        <p:spPr>
          <a:xfrm>
            <a:off x="539750" y="4941888"/>
            <a:ext cx="8280400" cy="968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</a:pPr>
            <a:r>
              <a:rPr lang="zh-CN" altLang="en-US" sz="2400" b="1" dirty="0">
                <a:latin typeface="宋体" panose="02010600030101010101" pitchFamily="2" charset="-122"/>
              </a:rPr>
              <a:t>而</a:t>
            </a:r>
            <a:r>
              <a:rPr lang="en-US" altLang="zh-CN" sz="2400" b="1" i="1">
                <a:latin typeface="Times New Roman" panose="02020603050405020304" pitchFamily="18" charset="0"/>
                <a:ea typeface="华文细黑" panose="02010600040101010101" pitchFamily="2" charset="-122"/>
              </a:rPr>
              <a:t>x</a:t>
            </a:r>
            <a:r>
              <a:rPr lang="en-US" altLang="zh-CN" sz="2400" b="1" baseline="-300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ea typeface="华文细黑" panose="02010600040101010101" pitchFamily="2" charset="-122"/>
              </a:rPr>
              <a:t>=0</a:t>
            </a:r>
            <a:r>
              <a:rPr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400" b="1" i="1">
                <a:latin typeface="Times New Roman" panose="02020603050405020304" pitchFamily="18" charset="0"/>
                <a:ea typeface="华文细黑" panose="02010600040101010101" pitchFamily="2" charset="-122"/>
              </a:rPr>
              <a:t>x</a:t>
            </a:r>
            <a:r>
              <a:rPr lang="en-US" altLang="zh-CN" sz="2400" b="1" baseline="-300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ea typeface="华文细黑" panose="02010600040101010101" pitchFamily="2" charset="-122"/>
              </a:rPr>
              <a:t>=0</a:t>
            </a:r>
            <a:r>
              <a:rPr lang="zh-CN" altLang="en-US" sz="2400" b="1" dirty="0">
                <a:latin typeface="宋体" panose="02010600030101010101" pitchFamily="2" charset="-122"/>
              </a:rPr>
              <a:t>是问题</a:t>
            </a:r>
            <a:r>
              <a:rPr lang="en-US" altLang="zh-CN" sz="2400" b="1" i="1">
                <a:latin typeface="Times New Roman" panose="02020603050405020304" pitchFamily="18" charset="0"/>
                <a:ea typeface="华文细黑" panose="02010600040101010101" pitchFamily="2" charset="-122"/>
              </a:rPr>
              <a:t>A</a:t>
            </a:r>
            <a:r>
              <a:rPr lang="zh-CN" altLang="en-US" sz="2400" b="1" dirty="0">
                <a:latin typeface="宋体" panose="02010600030101010101" pitchFamily="2" charset="-122"/>
              </a:rPr>
              <a:t>的一个整数可行解，这时</a:t>
            </a:r>
            <a:r>
              <a:rPr lang="en-US" altLang="zh-CN" sz="2400" b="1" i="1">
                <a:latin typeface="Times New Roman" panose="02020603050405020304" pitchFamily="18" charset="0"/>
                <a:ea typeface="华文细黑" panose="02010600040101010101" pitchFamily="2" charset="-122"/>
              </a:rPr>
              <a:t>z</a:t>
            </a:r>
            <a:r>
              <a:rPr lang="en-US" altLang="zh-CN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=</a:t>
            </a:r>
            <a:r>
              <a:rPr lang="en-US" altLang="zh-CN" sz="2400" b="1">
                <a:latin typeface="Times New Roman" panose="02020603050405020304" pitchFamily="18" charset="0"/>
                <a:ea typeface="华文细黑" panose="02010600040101010101" pitchFamily="2" charset="-122"/>
              </a:rPr>
              <a:t>0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是</a:t>
            </a:r>
            <a:r>
              <a:rPr lang="en-US" altLang="zh-CN" sz="2400" b="1" i="1">
                <a:latin typeface="Times New Roman" panose="02020603050405020304" pitchFamily="18" charset="0"/>
                <a:ea typeface="华文细黑" panose="02010600040101010101" pitchFamily="2" charset="-122"/>
              </a:rPr>
              <a:t>z</a:t>
            </a:r>
            <a:r>
              <a:rPr lang="en-US" altLang="zh-CN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*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的</a:t>
            </a:r>
            <a:r>
              <a:rPr lang="zh-CN" altLang="en-US" sz="2400" b="1" dirty="0">
                <a:latin typeface="宋体" panose="02010600030101010101" pitchFamily="2" charset="-122"/>
              </a:rPr>
              <a:t>一个下界，记作</a:t>
            </a:r>
            <a:endParaRPr lang="zh-CN" altLang="en-US" sz="240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682003" name="对象 682002"/>
          <p:cNvGraphicFramePr/>
          <p:nvPr/>
        </p:nvGraphicFramePr>
        <p:xfrm>
          <a:off x="3708400" y="1196975"/>
          <a:ext cx="3886200" cy="187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3886200" imgH="1879600" progId="Equation.DSMT4">
                  <p:embed/>
                </p:oleObj>
              </mc:Choice>
              <mc:Fallback>
                <p:oleObj name="" r:id="rId1" imgW="3886200" imgH="1879600" progId="Equation.DSMT4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08400" y="1196975"/>
                        <a:ext cx="3886200" cy="187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2009" name="对象 682008"/>
          <p:cNvGraphicFramePr/>
          <p:nvPr/>
        </p:nvGraphicFramePr>
        <p:xfrm>
          <a:off x="5292725" y="3284538"/>
          <a:ext cx="3632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3" imgW="3632200" imgH="419100" progId="Equation.DSMT4">
                  <p:embed/>
                </p:oleObj>
              </mc:Choice>
              <mc:Fallback>
                <p:oleObj name="" r:id="rId3" imgW="3632200" imgH="419100" progId="Equation.DSMT4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292725" y="3284538"/>
                        <a:ext cx="36322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2011" name="矩形 682010"/>
          <p:cNvSpPr/>
          <p:nvPr/>
        </p:nvSpPr>
        <p:spPr>
          <a:xfrm>
            <a:off x="684213" y="3789363"/>
            <a:ext cx="34766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400" b="1" dirty="0">
                <a:latin typeface="宋体" panose="02010600030101010101" pitchFamily="2" charset="-122"/>
                <a:cs typeface="Times New Roman" panose="02020603050405020304" pitchFamily="18" charset="0"/>
              </a:rPr>
              <a:t>可见它不符合整数条件</a:t>
            </a:r>
            <a:r>
              <a:rPr lang="zh-CN" altLang="en-US" dirty="0">
                <a:solidFill>
                  <a:srgbClr val="000000"/>
                </a:solidFill>
                <a:latin typeface="Arial" panose="020B0604020202020204" pitchFamily="34" charset="0"/>
              </a:rPr>
              <a:t>。</a:t>
            </a:r>
            <a:endParaRPr lang="zh-CN" altLang="en-US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82016" name="矩形 682015"/>
          <p:cNvSpPr/>
          <p:nvPr/>
        </p:nvSpPr>
        <p:spPr>
          <a:xfrm>
            <a:off x="539750" y="4437063"/>
            <a:ext cx="67024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None/>
            </a:pPr>
            <a:r>
              <a:rPr lang="zh-CN" altLang="en-US" sz="2400" b="1" dirty="0">
                <a:latin typeface="宋体" panose="02010600030101010101" pitchFamily="2" charset="-122"/>
                <a:cs typeface="Times New Roman" panose="02020603050405020304" pitchFamily="18" charset="0"/>
              </a:rPr>
              <a:t>这时</a:t>
            </a:r>
            <a:r>
              <a:rPr lang="en-US" altLang="zh-CN" sz="2400" b="1" i="1">
                <a:latin typeface="Times New Roman" panose="02020603050405020304" pitchFamily="18" charset="0"/>
                <a:ea typeface="华文细黑" panose="02010600040101010101" pitchFamily="2" charset="-122"/>
              </a:rPr>
              <a:t>z</a:t>
            </a:r>
            <a:r>
              <a:rPr lang="en-US" altLang="zh-CN" sz="2400" b="1" baseline="-30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sz="2400" b="1" dirty="0">
                <a:latin typeface="宋体" panose="02010600030101010101" pitchFamily="2" charset="-122"/>
                <a:cs typeface="Times New Roman" panose="02020603050405020304" pitchFamily="18" charset="0"/>
              </a:rPr>
              <a:t>是问题</a:t>
            </a:r>
            <a:r>
              <a:rPr lang="en-US" altLang="zh-CN" sz="2400" b="1" i="1">
                <a:latin typeface="Times New Roman" panose="02020603050405020304" pitchFamily="18" charset="0"/>
                <a:ea typeface="华文细黑" panose="02010600040101010101" pitchFamily="2" charset="-122"/>
              </a:rPr>
              <a:t>A</a:t>
            </a:r>
            <a:r>
              <a:rPr lang="zh-CN" altLang="en-US" sz="2400" b="1" dirty="0">
                <a:latin typeface="宋体" panose="02010600030101010101" pitchFamily="2" charset="-122"/>
                <a:cs typeface="Times New Roman" panose="02020603050405020304" pitchFamily="18" charset="0"/>
              </a:rPr>
              <a:t>的最优目标函数值</a:t>
            </a:r>
            <a:r>
              <a:rPr lang="en-US" altLang="zh-CN" sz="2400" b="1" i="1">
                <a:latin typeface="Times New Roman" panose="02020603050405020304" pitchFamily="18" charset="0"/>
                <a:ea typeface="华文细黑" panose="02010600040101010101" pitchFamily="2" charset="-122"/>
              </a:rPr>
              <a:t>z</a:t>
            </a:r>
            <a:r>
              <a:rPr lang="en-US" altLang="zh-CN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*</a:t>
            </a:r>
            <a:r>
              <a:rPr lang="zh-CN" altLang="en-US" sz="2400" b="1" dirty="0">
                <a:latin typeface="宋体" panose="02010600030101010101" pitchFamily="2" charset="-122"/>
                <a:cs typeface="Times New Roman" panose="02020603050405020304" pitchFamily="18" charset="0"/>
              </a:rPr>
              <a:t>的上界，记作</a:t>
            </a:r>
            <a:endParaRPr lang="zh-CN" altLang="en-US" sz="2400" b="1" dirty="0">
              <a:latin typeface="宋体" panose="02010600030101010101" pitchFamily="2" charset="-122"/>
              <a:ea typeface="Times New Roman" panose="02020603050405020304" pitchFamily="18" charset="0"/>
            </a:endParaRPr>
          </a:p>
        </p:txBody>
      </p:sp>
      <p:graphicFrame>
        <p:nvGraphicFramePr>
          <p:cNvPr id="682019" name="对象 682018"/>
          <p:cNvGraphicFramePr/>
          <p:nvPr/>
        </p:nvGraphicFramePr>
        <p:xfrm>
          <a:off x="2603500" y="5516563"/>
          <a:ext cx="711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5" imgW="711200" imgH="381000" progId="Equation.DSMT4">
                  <p:embed/>
                </p:oleObj>
              </mc:Choice>
              <mc:Fallback>
                <p:oleObj name="" r:id="rId5" imgW="711200" imgH="381000" progId="Equation.DSMT4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03500" y="5516563"/>
                        <a:ext cx="7112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2022" name="对象 682021"/>
          <p:cNvGraphicFramePr/>
          <p:nvPr/>
        </p:nvGraphicFramePr>
        <p:xfrm>
          <a:off x="3059113" y="6237288"/>
          <a:ext cx="1854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7" imgW="1854200" imgH="368300" progId="Equation.DSMT4">
                  <p:embed/>
                </p:oleObj>
              </mc:Choice>
              <mc:Fallback>
                <p:oleObj name="" r:id="rId7" imgW="1854200" imgH="368300" progId="Equation.DSMT4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59113" y="6237288"/>
                        <a:ext cx="1854200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2025" name="对象 682024"/>
          <p:cNvGraphicFramePr/>
          <p:nvPr/>
        </p:nvGraphicFramePr>
        <p:xfrm>
          <a:off x="7292975" y="4378325"/>
          <a:ext cx="812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9" imgW="812165" imgH="444500" progId="Equation.DSMT4">
                  <p:embed/>
                </p:oleObj>
              </mc:Choice>
              <mc:Fallback>
                <p:oleObj name="" r:id="rId9" imgW="812165" imgH="444500" progId="Equation.DSMT4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292975" y="4378325"/>
                        <a:ext cx="8128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81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82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82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82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82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81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82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82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1991" grpId="0"/>
      <p:bldP spid="681992" grpId="0"/>
      <p:bldP spid="682011" grpId="0"/>
      <p:bldP spid="6820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683011" name="对象 683010"/>
          <p:cNvGraphicFramePr/>
          <p:nvPr/>
        </p:nvGraphicFramePr>
        <p:xfrm>
          <a:off x="1116013" y="1196975"/>
          <a:ext cx="7200900" cy="439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2476500" imgH="1914525" progId="Word.Document.8">
                  <p:embed/>
                </p:oleObj>
              </mc:Choice>
              <mc:Fallback>
                <p:oleObj name="" r:id="rId1" imgW="2476500" imgH="1914525" progId="Word.Document.8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16013" y="1196975"/>
                        <a:ext cx="7200900" cy="4398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3016" name="标题 683015"/>
          <p:cNvSpPr>
            <a:spLocks noGrp="1"/>
          </p:cNvSpPr>
          <p:nvPr>
            <p:ph type="title"/>
          </p:nvPr>
        </p:nvSpPr>
        <p:spPr>
          <a:xfrm>
            <a:off x="914400" y="228283"/>
            <a:ext cx="8229600" cy="645160"/>
          </a:xfrm>
        </p:spPr>
        <p:txBody>
          <a:bodyPr anchor="ctr" anchorCtr="0">
            <a:spAutoFit/>
          </a:bodyPr>
          <a:p>
            <a:r>
              <a:rPr lang="en-US" altLang="zh-CN"/>
              <a:t> </a:t>
            </a:r>
            <a:r>
              <a:rPr lang="zh-CN" altLang="en-US" dirty="0"/>
              <a:t>分支定界解法</a:t>
            </a:r>
            <a:endParaRPr lang="zh-CN" altLang="en-US" dirty="0"/>
          </a:p>
        </p:txBody>
      </p:sp>
    </p:spTree>
  </p:cSld>
  <p:clrMapOvr>
    <a:masterClrMapping/>
  </p:clrMapOvr>
  <p:transition>
    <p:blinds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4035" name="矩形 684034"/>
          <p:cNvSpPr/>
          <p:nvPr/>
        </p:nvSpPr>
        <p:spPr>
          <a:xfrm>
            <a:off x="323850" y="1557338"/>
            <a:ext cx="8569325" cy="10795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800" u="none" kern="12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5pPr>
          </a:lstStyle>
          <a:p>
            <a:pPr marL="0" lvl="0" indent="0" algn="just">
              <a:lnSpc>
                <a:spcPct val="120000"/>
              </a:lnSpc>
              <a:buNone/>
            </a:pPr>
            <a:r>
              <a:rPr lang="zh-CN" altLang="en-US" sz="2400" b="1" dirty="0">
                <a:solidFill>
                  <a:srgbClr val="FF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分支：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问题</a:t>
            </a:r>
            <a:r>
              <a:rPr lang="en-US" altLang="zh-CN" sz="2400" b="1" i="1">
                <a:latin typeface="Times New Roman" panose="02020603050405020304" pitchFamily="18" charset="0"/>
                <a:ea typeface="华文细黑" panose="02010600040101010101" pitchFamily="2" charset="-122"/>
              </a:rPr>
              <a:t>B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的解中有一个非整数变量</a:t>
            </a:r>
            <a:r>
              <a:rPr lang="en-US" altLang="zh-CN" sz="2400" b="1" i="1">
                <a:latin typeface="Times New Roman" panose="02020603050405020304" pitchFamily="18" charset="0"/>
                <a:ea typeface="华文细黑" panose="02010600040101010101" pitchFamily="2" charset="-122"/>
              </a:rPr>
              <a:t>x</a:t>
            </a:r>
            <a:r>
              <a:rPr lang="en-US" altLang="zh-CN" sz="2400" b="1" baseline="-25000">
                <a:latin typeface="华文细黑" panose="02010600040101010101" pitchFamily="2" charset="-122"/>
                <a:ea typeface="华文细黑" panose="02010600040101010101" pitchFamily="2" charset="-122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ea typeface="华文细黑" panose="02010600040101010101" pitchFamily="2" charset="-122"/>
              </a:rPr>
              <a:t>=4.81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。则在原问题中增加分别两个约束条件：</a:t>
            </a:r>
            <a:r>
              <a:rPr lang="en-US" altLang="zh-CN" sz="2400" b="1" i="1">
                <a:latin typeface="Times New Roman" panose="02020603050405020304" pitchFamily="18" charset="0"/>
                <a:ea typeface="华文细黑" panose="02010600040101010101" pitchFamily="2" charset="-122"/>
              </a:rPr>
              <a:t>x</a:t>
            </a:r>
            <a:r>
              <a:rPr lang="en-US" altLang="zh-CN" sz="2400" b="1" baseline="-25000">
                <a:latin typeface="华文细黑" panose="02010600040101010101" pitchFamily="2" charset="-122"/>
                <a:ea typeface="华文细黑" panose="02010600040101010101" pitchFamily="2" charset="-122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ea typeface="华文细黑" panose="02010600040101010101" pitchFamily="2" charset="-122"/>
              </a:rPr>
              <a:t>≤4</a:t>
            </a:r>
            <a:r>
              <a:rPr lang="zh-CN" altLang="en-US" sz="240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和</a:t>
            </a:r>
            <a:r>
              <a:rPr lang="en-US" altLang="zh-CN" sz="2400" b="1" i="1">
                <a:latin typeface="Times New Roman" panose="02020603050405020304" pitchFamily="18" charset="0"/>
                <a:ea typeface="华文细黑" panose="02010600040101010101" pitchFamily="2" charset="-122"/>
              </a:rPr>
              <a:t>x</a:t>
            </a:r>
            <a:r>
              <a:rPr lang="en-US" altLang="zh-CN" sz="2400" b="1" baseline="-25000">
                <a:latin typeface="华文细黑" panose="02010600040101010101" pitchFamily="2" charset="-122"/>
                <a:ea typeface="华文细黑" panose="02010600040101010101" pitchFamily="2" charset="-122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ea typeface="华文细黑" panose="02010600040101010101" pitchFamily="2" charset="-122"/>
              </a:rPr>
              <a:t>≥5</a:t>
            </a:r>
            <a:r>
              <a:rPr lang="zh-CN" altLang="en-US" sz="240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，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将</a:t>
            </a:r>
            <a:r>
              <a:rPr lang="en-US" altLang="zh-CN" sz="2400" b="1" i="1">
                <a:latin typeface="Times New Roman" panose="02020603050405020304" pitchFamily="18" charset="0"/>
                <a:ea typeface="华文细黑" panose="02010600040101010101" pitchFamily="2" charset="-122"/>
              </a:rPr>
              <a:t>B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分解为</a:t>
            </a:r>
            <a:r>
              <a:rPr lang="en-US" altLang="zh-CN" sz="2400" b="1" i="1">
                <a:latin typeface="Times New Roman" panose="02020603050405020304" pitchFamily="18" charset="0"/>
                <a:ea typeface="华文细黑" panose="02010600040101010101" pitchFamily="2" charset="-122"/>
              </a:rPr>
              <a:t>B1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400" b="1" i="1">
                <a:latin typeface="Times New Roman" panose="02020603050405020304" pitchFamily="18" charset="0"/>
                <a:ea typeface="华文细黑" panose="02010600040101010101" pitchFamily="2" charset="-122"/>
              </a:rPr>
              <a:t>B2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84036" name="图片 684035" descr="5g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113" y="2636838"/>
            <a:ext cx="5256212" cy="39814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84037" name="矩形 684036"/>
          <p:cNvSpPr/>
          <p:nvPr/>
        </p:nvSpPr>
        <p:spPr>
          <a:xfrm>
            <a:off x="5364163" y="3573463"/>
            <a:ext cx="2663825" cy="6477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800" u="none" kern="12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5pPr>
          </a:lstStyle>
          <a:p>
            <a:pPr lvl="0" algn="just">
              <a:buNone/>
            </a:pPr>
            <a:r>
              <a:rPr lang="en-US" altLang="zh-CN" sz="2400" b="1" i="1">
                <a:latin typeface="Times New Roman" panose="02020603050405020304" pitchFamily="18" charset="0"/>
                <a:ea typeface="华文细黑" panose="02010600040101010101" pitchFamily="2" charset="-122"/>
              </a:rPr>
              <a:t>x</a:t>
            </a:r>
            <a:r>
              <a:rPr lang="en-US" altLang="zh-CN" sz="2400" b="1" baseline="-25000">
                <a:latin typeface="华文细黑" panose="02010600040101010101" pitchFamily="2" charset="-122"/>
                <a:ea typeface="华文细黑" panose="02010600040101010101" pitchFamily="2" charset="-122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ea typeface="华文细黑" panose="02010600040101010101" pitchFamily="2" charset="-122"/>
              </a:rPr>
              <a:t>≤4</a:t>
            </a:r>
            <a:r>
              <a:rPr lang="zh-CN" altLang="en-US">
                <a:ea typeface="华文细黑" panose="02010600040101010101" pitchFamily="2" charset="-122"/>
              </a:rPr>
              <a:t>，</a:t>
            </a:r>
            <a:r>
              <a:rPr lang="en-US" altLang="zh-CN" sz="2400" b="1" i="1">
                <a:latin typeface="Times New Roman" panose="02020603050405020304" pitchFamily="18" charset="0"/>
                <a:ea typeface="华文细黑" panose="02010600040101010101" pitchFamily="2" charset="-122"/>
              </a:rPr>
              <a:t>x</a:t>
            </a:r>
            <a:r>
              <a:rPr lang="en-US" altLang="zh-CN" sz="2400" b="1" baseline="-25000">
                <a:latin typeface="华文细黑" panose="02010600040101010101" pitchFamily="2" charset="-122"/>
                <a:ea typeface="华文细黑" panose="02010600040101010101" pitchFamily="2" charset="-122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ea typeface="华文细黑" panose="02010600040101010101" pitchFamily="2" charset="-122"/>
              </a:rPr>
              <a:t>≥5</a:t>
            </a:r>
            <a:endParaRPr lang="en-US" altLang="zh-CN" sz="2400" b="1">
              <a:latin typeface="Times New Roman" panose="02020603050405020304" pitchFamily="18" charset="0"/>
              <a:ea typeface="华文细黑" panose="02010600040101010101" pitchFamily="2" charset="-122"/>
            </a:endParaRPr>
          </a:p>
        </p:txBody>
      </p:sp>
      <p:sp>
        <p:nvSpPr>
          <p:cNvPr id="684038" name="直接连接符 684037"/>
          <p:cNvSpPr/>
          <p:nvPr/>
        </p:nvSpPr>
        <p:spPr>
          <a:xfrm flipH="1">
            <a:off x="3276600" y="3789363"/>
            <a:ext cx="2159000" cy="1439862"/>
          </a:xfrm>
          <a:prstGeom prst="line">
            <a:avLst/>
          </a:prstGeom>
          <a:ln w="9525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84039" name="直接连接符 684038"/>
          <p:cNvSpPr/>
          <p:nvPr/>
        </p:nvSpPr>
        <p:spPr>
          <a:xfrm flipH="1">
            <a:off x="4716463" y="4149725"/>
            <a:ext cx="1800225" cy="1800225"/>
          </a:xfrm>
          <a:prstGeom prst="line">
            <a:avLst/>
          </a:prstGeom>
          <a:ln w="9525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84041" name="标题 684040"/>
          <p:cNvSpPr>
            <a:spLocks noGrp="1"/>
          </p:cNvSpPr>
          <p:nvPr>
            <p:ph type="title"/>
          </p:nvPr>
        </p:nvSpPr>
        <p:spPr>
          <a:xfrm>
            <a:off x="468313" y="287814"/>
            <a:ext cx="8229600" cy="645160"/>
          </a:xfrm>
        </p:spPr>
        <p:txBody>
          <a:bodyPr anchor="ctr" anchorCtr="0">
            <a:spAutoFit/>
          </a:bodyPr>
          <a:p>
            <a:r>
              <a:rPr lang="en-US" altLang="zh-CN"/>
              <a:t>  </a:t>
            </a:r>
            <a:r>
              <a:rPr lang="zh-CN" altLang="en-US" dirty="0"/>
              <a:t>分支定界解法</a:t>
            </a:r>
            <a:endParaRPr lang="zh-CN" altLang="en-US" dirty="0"/>
          </a:p>
        </p:txBody>
      </p:sp>
      <p:sp>
        <p:nvSpPr>
          <p:cNvPr id="684043" name="矩形 684042"/>
          <p:cNvSpPr/>
          <p:nvPr/>
        </p:nvSpPr>
        <p:spPr>
          <a:xfrm>
            <a:off x="250825" y="925513"/>
            <a:ext cx="2063750" cy="53022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120000"/>
              </a:lnSpc>
              <a:spcBef>
                <a:spcPct val="20000"/>
              </a:spcBef>
              <a:buNone/>
            </a:pPr>
            <a:r>
              <a:rPr lang="en-US" altLang="zh-CN" sz="2400" b="1">
                <a:solidFill>
                  <a:srgbClr val="FF00FF"/>
                </a:solidFill>
                <a:latin typeface="Times New Roman" panose="02020603050405020304" pitchFamily="18" charset="0"/>
                <a:ea typeface="华文细黑" panose="02010600040101010101" pitchFamily="2" charset="-122"/>
              </a:rPr>
              <a:t>(1)</a:t>
            </a:r>
            <a:r>
              <a:rPr lang="zh-CN" altLang="en-US" sz="2400" b="1" dirty="0">
                <a:solidFill>
                  <a:srgbClr val="FF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分支与定界</a:t>
            </a:r>
            <a:endParaRPr lang="zh-CN" altLang="en-US" sz="2400" b="1" dirty="0">
              <a:solidFill>
                <a:srgbClr val="FF00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84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84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8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84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84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4035" grpId="0"/>
      <p:bldP spid="68403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5060" name="矩形 685059"/>
          <p:cNvSpPr/>
          <p:nvPr/>
        </p:nvSpPr>
        <p:spPr>
          <a:xfrm>
            <a:off x="250825" y="1196975"/>
            <a:ext cx="84248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仍然不考虑整数条件约束，解问题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B1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和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B2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，得到最优解为：</a:t>
            </a:r>
            <a:endParaRPr lang="zh-CN" altLang="en-US" sz="24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685061" name="矩形 685060"/>
          <p:cNvSpPr/>
          <p:nvPr/>
        </p:nvSpPr>
        <p:spPr>
          <a:xfrm>
            <a:off x="468313" y="4724400"/>
            <a:ext cx="48958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b="1" dirty="0">
                <a:solidFill>
                  <a:srgbClr val="FF00FF"/>
                </a:solidFill>
                <a:latin typeface="宋体" panose="02010600030101010101" pitchFamily="2" charset="-122"/>
              </a:rPr>
              <a:t>定界：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显然没得到全部整数解。</a:t>
            </a:r>
            <a:endParaRPr lang="zh-CN" altLang="en-US" sz="2400" b="1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685084" name="表格 685083"/>
          <p:cNvGraphicFramePr/>
          <p:nvPr/>
        </p:nvGraphicFramePr>
        <p:xfrm>
          <a:off x="2484438" y="1989138"/>
          <a:ext cx="3455988" cy="1939925"/>
        </p:xfrm>
        <a:graphic>
          <a:graphicData uri="http://schemas.openxmlformats.org/drawingml/2006/table">
            <a:tbl>
              <a:tblPr/>
              <a:tblGrid>
                <a:gridCol w="1728788"/>
                <a:gridCol w="1727200"/>
              </a:tblGrid>
              <a:tr h="45720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b="1" dirty="0">
                          <a:ea typeface="宋体" panose="02010600030101010101" pitchFamily="2" charset="-122"/>
                        </a:rPr>
                        <a:t>问题</a:t>
                      </a:r>
                      <a:r>
                        <a:rPr lang="en-US" altLang="zh-CN" b="1" i="1">
                          <a:latin typeface="Times New Roman" panose="02020603050405020304" pitchFamily="18" charset="0"/>
                        </a:rPr>
                        <a:t>B1</a:t>
                      </a:r>
                      <a:endParaRPr lang="zh-CN" altLang="en-US" b="1" i="1">
                        <a:latin typeface="Times New Roman" panose="02020603050405020304" pitchFamily="18" charset="0"/>
                      </a:endParaRPr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b="1" dirty="0">
                          <a:ea typeface="宋体" panose="02010600030101010101" pitchFamily="2" charset="-122"/>
                        </a:rPr>
                        <a:t>问题</a:t>
                      </a:r>
                      <a:r>
                        <a:rPr lang="en-US" altLang="zh-CN" b="1" i="1">
                          <a:latin typeface="Times New Roman" panose="02020603050405020304" pitchFamily="18" charset="0"/>
                        </a:rPr>
                        <a:t>B2</a:t>
                      </a:r>
                      <a:endParaRPr lang="zh-CN" altLang="en-US" b="1" i="1">
                        <a:latin typeface="Times New Roman" panose="02020603050405020304" pitchFamily="18" charset="0"/>
                      </a:endParaRP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530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1" i="1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baseline="-25000">
                          <a:latin typeface="Times New Roman" panose="02020603050405020304" pitchFamily="18" charset="0"/>
                        </a:rPr>
                        <a:t>1</a:t>
                      </a:r>
                      <a:r>
                        <a:rPr lang="en-US" altLang="zh-CN"/>
                        <a:t>=</a:t>
                      </a:r>
                      <a:r>
                        <a:rPr lang="en-US" altLang="zh-CN" b="1">
                          <a:latin typeface="Times New Roman" panose="02020603050405020304" pitchFamily="18" charset="0"/>
                        </a:rPr>
                        <a:t>4</a:t>
                      </a:r>
                      <a:endParaRPr lang="zh-CN" altLang="en-US" b="1">
                        <a:latin typeface="Times New Roman" panose="02020603050405020304" pitchFamily="18" charset="0"/>
                      </a:endParaRPr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1" i="1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baseline="-25000">
                          <a:latin typeface="Times New Roman" panose="02020603050405020304" pitchFamily="18" charset="0"/>
                        </a:rPr>
                        <a:t>1</a:t>
                      </a:r>
                      <a:r>
                        <a:rPr lang="en-US" altLang="zh-CN"/>
                        <a:t>=</a:t>
                      </a:r>
                      <a:r>
                        <a:rPr lang="en-US" altLang="zh-CN" b="1">
                          <a:latin typeface="Times New Roman" panose="02020603050405020304" pitchFamily="18" charset="0"/>
                        </a:rPr>
                        <a:t>5</a:t>
                      </a:r>
                      <a:endParaRPr lang="zh-CN" altLang="en-US" b="1">
                        <a:latin typeface="Times New Roman" panose="02020603050405020304" pitchFamily="18" charset="0"/>
                      </a:endParaRP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3713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1" i="1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baseline="-25000"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US" altLang="zh-CN" b="1">
                          <a:latin typeface="Times New Roman" panose="02020603050405020304" pitchFamily="18" charset="0"/>
                        </a:rPr>
                        <a:t>=2.1</a:t>
                      </a:r>
                      <a:endParaRPr lang="zh-CN" altLang="en-US" b="1">
                        <a:latin typeface="Times New Roman" panose="02020603050405020304" pitchFamily="18" charset="0"/>
                      </a:endParaRPr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1" i="1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baseline="-25000"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US" altLang="zh-CN"/>
                        <a:t>=</a:t>
                      </a:r>
                      <a:r>
                        <a:rPr lang="en-US" altLang="zh-CN" b="1">
                          <a:latin typeface="Times New Roman" panose="02020603050405020304" pitchFamily="18" charset="0"/>
                        </a:rPr>
                        <a:t>1.57</a:t>
                      </a:r>
                      <a:endParaRPr lang="zh-CN" altLang="en-US" b="1">
                        <a:latin typeface="Times New Roman" panose="02020603050405020304" pitchFamily="18" charset="0"/>
                      </a:endParaRP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3712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1" i="1">
                          <a:latin typeface="Times New Roman" panose="02020603050405020304" pitchFamily="18" charset="0"/>
                        </a:rPr>
                        <a:t>z</a:t>
                      </a:r>
                      <a:r>
                        <a:rPr lang="en-US" altLang="zh-CN" b="1" baseline="-25000">
                          <a:latin typeface="Times New Roman" panose="02020603050405020304" pitchFamily="18" charset="0"/>
                        </a:rPr>
                        <a:t>1</a:t>
                      </a:r>
                      <a:r>
                        <a:rPr lang="en-US" altLang="zh-CN" b="1">
                          <a:latin typeface="Times New Roman" panose="02020603050405020304" pitchFamily="18" charset="0"/>
                        </a:rPr>
                        <a:t>=349</a:t>
                      </a:r>
                      <a:endParaRPr lang="zh-CN" altLang="en-US" b="1">
                        <a:latin typeface="Times New Roman" panose="02020603050405020304" pitchFamily="18" charset="0"/>
                      </a:endParaRPr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1" i="1">
                          <a:latin typeface="Times New Roman" panose="02020603050405020304" pitchFamily="18" charset="0"/>
                        </a:rPr>
                        <a:t>z</a:t>
                      </a:r>
                      <a:r>
                        <a:rPr lang="en-US" altLang="zh-CN" b="1" baseline="-25000"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US" altLang="zh-CN"/>
                        <a:t>=</a:t>
                      </a:r>
                      <a:r>
                        <a:rPr lang="en-US" altLang="zh-CN" b="1">
                          <a:latin typeface="Times New Roman" panose="02020603050405020304" pitchFamily="18" charset="0"/>
                        </a:rPr>
                        <a:t>341</a:t>
                      </a:r>
                      <a:endParaRPr lang="zh-CN" altLang="en-US" b="1">
                        <a:latin typeface="Times New Roman" panose="02020603050405020304" pitchFamily="18" charset="0"/>
                      </a:endParaRP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85085" name="标题 685084"/>
          <p:cNvSpPr>
            <a:spLocks noGrp="1"/>
          </p:cNvSpPr>
          <p:nvPr>
            <p:ph type="title"/>
          </p:nvPr>
        </p:nvSpPr>
        <p:spPr>
          <a:xfrm>
            <a:off x="468313" y="288608"/>
            <a:ext cx="8229600" cy="645160"/>
          </a:xfrm>
        </p:spPr>
        <p:txBody>
          <a:bodyPr anchor="ctr" anchorCtr="0">
            <a:spAutoFit/>
          </a:bodyPr>
          <a:p>
            <a:r>
              <a:rPr lang="en-US" altLang="zh-CN"/>
              <a:t> </a:t>
            </a:r>
            <a:r>
              <a:rPr lang="zh-CN" altLang="en-US" dirty="0"/>
              <a:t>分支定界解法</a:t>
            </a:r>
            <a:endParaRPr lang="zh-CN" altLang="en-US" dirty="0"/>
          </a:p>
        </p:txBody>
      </p:sp>
      <p:sp>
        <p:nvSpPr>
          <p:cNvPr id="685091" name="矩形 685090"/>
          <p:cNvSpPr/>
          <p:nvPr/>
        </p:nvSpPr>
        <p:spPr>
          <a:xfrm>
            <a:off x="539750" y="5373688"/>
            <a:ext cx="401478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那么必存在最优整数解，且 </a:t>
            </a:r>
            <a:endParaRPr lang="zh-CN" altLang="en-US" sz="24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685094" name="对象 685093"/>
          <p:cNvGraphicFramePr/>
          <p:nvPr/>
        </p:nvGraphicFramePr>
        <p:xfrm>
          <a:off x="4427538" y="5445125"/>
          <a:ext cx="15875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" imgW="1586230" imgH="355600" progId="Equation.DSMT4">
                  <p:embed/>
                </p:oleObj>
              </mc:Choice>
              <mc:Fallback>
                <p:oleObj name="" r:id="rId1" imgW="1586230" imgH="355600" progId="Equation.DSMT4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427538" y="5445125"/>
                        <a:ext cx="1587500" cy="355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5097" name="对象 685096"/>
          <p:cNvGraphicFramePr/>
          <p:nvPr/>
        </p:nvGraphicFramePr>
        <p:xfrm>
          <a:off x="4814888" y="4762500"/>
          <a:ext cx="2362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3" imgW="2360930" imgH="381000" progId="Equation.DSMT4">
                  <p:embed/>
                </p:oleObj>
              </mc:Choice>
              <mc:Fallback>
                <p:oleObj name="" r:id="rId3" imgW="2360930" imgH="381000" progId="Equation.DSMT4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14888" y="4762500"/>
                        <a:ext cx="23622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8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85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8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85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85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85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5060" grpId="0"/>
      <p:bldP spid="685061" grpId="0"/>
      <p:bldP spid="68509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083" name="矩形 686082"/>
          <p:cNvSpPr/>
          <p:nvPr/>
        </p:nvSpPr>
        <p:spPr>
          <a:xfrm>
            <a:off x="395288" y="1628775"/>
            <a:ext cx="8064500" cy="9366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800" u="none" kern="12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5pPr>
          </a:lstStyle>
          <a:p>
            <a:pPr marL="0" lvl="0" indent="0" algn="just">
              <a:buNone/>
            </a:pPr>
            <a:r>
              <a:rPr lang="zh-CN" altLang="en-US" sz="2400" b="1" dirty="0">
                <a:solidFill>
                  <a:srgbClr val="FF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分支：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因</a:t>
            </a:r>
            <a:r>
              <a:rPr lang="en-US" altLang="zh-CN" sz="2400" b="1" i="1">
                <a:latin typeface="Times New Roman" panose="02020603050405020304" pitchFamily="18" charset="0"/>
                <a:ea typeface="华文细黑" panose="02010600040101010101" pitchFamily="2" charset="-122"/>
              </a:rPr>
              <a:t>z</a:t>
            </a:r>
            <a:r>
              <a:rPr lang="en-US" altLang="zh-CN" sz="2400" b="1" baseline="-25000">
                <a:latin typeface="Times New Roman" panose="02020603050405020304" pitchFamily="18" charset="0"/>
                <a:ea typeface="华文细黑" panose="02010600040101010101" pitchFamily="2" charset="-122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ea typeface="华文细黑" panose="02010600040101010101" pitchFamily="2" charset="-122"/>
              </a:rPr>
              <a:t>＞</a:t>
            </a:r>
            <a:r>
              <a:rPr lang="en-US" altLang="zh-CN" sz="2400" b="1" i="1">
                <a:latin typeface="Times New Roman" panose="02020603050405020304" pitchFamily="18" charset="0"/>
                <a:ea typeface="华文细黑" panose="02010600040101010101" pitchFamily="2" charset="-122"/>
              </a:rPr>
              <a:t>z</a:t>
            </a:r>
            <a:r>
              <a:rPr lang="en-US" altLang="zh-CN" sz="2400" b="1" baseline="-25000">
                <a:latin typeface="Times New Roman" panose="02020603050405020304" pitchFamily="18" charset="0"/>
                <a:ea typeface="华文细黑" panose="02010600040101010101" pitchFamily="2" charset="-122"/>
              </a:rPr>
              <a:t>2</a:t>
            </a:r>
            <a:r>
              <a:rPr lang="zh-CN" altLang="en-US" sz="2400" b="1" dirty="0">
                <a:solidFill>
                  <a:srgbClr val="0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，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故先分解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为两支。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增加条件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细黑" panose="02010600040101010101" pitchFamily="2" charset="-122"/>
              </a:rPr>
              <a:t>≤2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称为问题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zh-CN" altLang="en-US" sz="2400" b="1" dirty="0">
                <a:solidFill>
                  <a:srgbClr val="0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；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增加条件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细黑" panose="02010600040101010101" pitchFamily="2" charset="-122"/>
              </a:rPr>
              <a:t>≥3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称为问题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r>
              <a:rPr lang="zh-CN" altLang="en-US" sz="2400" b="1" dirty="0">
                <a:solidFill>
                  <a:srgbClr val="0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。</a:t>
            </a:r>
            <a:endParaRPr lang="zh-CN" altLang="en-US" sz="2400" b="1">
              <a:solidFill>
                <a:srgbClr val="0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686084" name="图片 686083" descr="5g3-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988" y="2852738"/>
            <a:ext cx="5616575" cy="3597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86086" name="标题 686085"/>
          <p:cNvSpPr>
            <a:spLocks noGrp="1"/>
          </p:cNvSpPr>
          <p:nvPr>
            <p:ph type="title"/>
          </p:nvPr>
        </p:nvSpPr>
        <p:spPr>
          <a:xfrm>
            <a:off x="468313" y="287814"/>
            <a:ext cx="8229600" cy="645160"/>
          </a:xfrm>
        </p:spPr>
        <p:txBody>
          <a:bodyPr anchor="ctr" anchorCtr="0">
            <a:spAutoFit/>
          </a:bodyPr>
          <a:p>
            <a:r>
              <a:rPr lang="en-US" altLang="zh-CN"/>
              <a:t>  </a:t>
            </a:r>
            <a:r>
              <a:rPr lang="zh-CN" altLang="en-US" dirty="0"/>
              <a:t>分支定界解法</a:t>
            </a:r>
            <a:endParaRPr lang="zh-CN" altLang="en-US" dirty="0"/>
          </a:p>
        </p:txBody>
      </p:sp>
      <p:sp>
        <p:nvSpPr>
          <p:cNvPr id="686088" name="矩形 686087"/>
          <p:cNvSpPr/>
          <p:nvPr/>
        </p:nvSpPr>
        <p:spPr>
          <a:xfrm>
            <a:off x="323850" y="1052513"/>
            <a:ext cx="248126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spcBef>
                <a:spcPct val="20000"/>
              </a:spcBef>
            </a:pPr>
            <a:r>
              <a:rPr lang="zh-CN" altLang="en-US" sz="24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b="1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sz="2400" b="1" dirty="0">
                <a:solidFill>
                  <a:srgbClr val="FF00FF"/>
                </a:solidFill>
                <a:latin typeface="华文细黑" panose="02010600040101010101" pitchFamily="2" charset="-122"/>
                <a:cs typeface="Times New Roman" panose="02020603050405020304" pitchFamily="18" charset="0"/>
              </a:rPr>
              <a:t>分支与定界</a:t>
            </a:r>
            <a:endParaRPr lang="zh-CN" altLang="en-US" sz="2400" b="1" dirty="0">
              <a:solidFill>
                <a:srgbClr val="FF00FF"/>
              </a:solidFill>
              <a:latin typeface="华文细黑" panose="02010600040101010101" pitchFamily="2" charset="-122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86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8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08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7108" name="文本框 687107"/>
          <p:cNvSpPr txBox="1"/>
          <p:nvPr/>
        </p:nvSpPr>
        <p:spPr>
          <a:xfrm>
            <a:off x="395288" y="1196975"/>
            <a:ext cx="83534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求解问题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华文细黑" panose="02010600040101010101" pitchFamily="2" charset="-122"/>
              </a:rPr>
              <a:t>B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细黑" panose="02010600040101010101" pitchFamily="2" charset="-122"/>
              </a:rPr>
              <a:t>3</a:t>
            </a:r>
            <a:r>
              <a:rPr lang="zh-CN" altLang="en-US" sz="2400" b="1" dirty="0">
                <a:solidFill>
                  <a:srgbClr val="0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和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华文细黑" panose="02010600040101010101" pitchFamily="2" charset="-122"/>
              </a:rPr>
              <a:t>B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细黑" panose="02010600040101010101" pitchFamily="2" charset="-122"/>
              </a:rPr>
              <a:t>4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，得到</a:t>
            </a:r>
            <a:endParaRPr lang="zh-CN" altLang="en-US" sz="2400" b="1" dirty="0">
              <a:solidFill>
                <a:srgbClr val="000000"/>
              </a:solidFill>
              <a:latin typeface="宋体" panose="02010600030101010101" pitchFamily="2" charset="-122"/>
              <a:ea typeface="Times New Roman" panose="02020603050405020304" pitchFamily="18" charset="0"/>
            </a:endParaRPr>
          </a:p>
        </p:txBody>
      </p:sp>
      <p:sp>
        <p:nvSpPr>
          <p:cNvPr id="687109" name="矩形 687108"/>
          <p:cNvSpPr/>
          <p:nvPr/>
        </p:nvSpPr>
        <p:spPr>
          <a:xfrm>
            <a:off x="468313" y="4221163"/>
            <a:ext cx="6696075" cy="5667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30000"/>
              </a:lnSpc>
              <a:buNone/>
            </a:pPr>
            <a:r>
              <a:rPr lang="zh-CN" altLang="en-US" sz="2400" b="1" dirty="0">
                <a:solidFill>
                  <a:srgbClr val="FF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定界：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显然问题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华文细黑" panose="02010600040101010101" pitchFamily="2" charset="-122"/>
              </a:rPr>
              <a:t>B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细黑" panose="02010600040101010101" pitchFamily="2" charset="-122"/>
              </a:rPr>
              <a:t>3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已得到整数解。</a:t>
            </a:r>
            <a:r>
              <a:rPr lang="en-US" altLang="zh-CN" sz="2400" b="1" i="1">
                <a:latin typeface="Times New Roman" panose="02020603050405020304" pitchFamily="18" charset="0"/>
                <a:ea typeface="黑体" panose="02010609060101010101" pitchFamily="2" charset="-122"/>
              </a:rPr>
              <a:t>z</a:t>
            </a:r>
            <a:r>
              <a:rPr lang="en-US" altLang="zh-CN" sz="2400" b="1" baseline="-250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en-US" altLang="zh-CN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=340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故将</a:t>
            </a:r>
            <a:endParaRPr lang="zh-CN" altLang="en-US" sz="2400" b="1" dirty="0">
              <a:solidFill>
                <a:srgbClr val="000000"/>
              </a:solidFill>
              <a:latin typeface="宋体" panose="02010600030101010101" pitchFamily="2" charset="-122"/>
              <a:ea typeface="Times New Roman" panose="02020603050405020304" pitchFamily="18" charset="0"/>
            </a:endParaRPr>
          </a:p>
        </p:txBody>
      </p:sp>
      <p:graphicFrame>
        <p:nvGraphicFramePr>
          <p:cNvPr id="687143" name="表格 687142"/>
          <p:cNvGraphicFramePr/>
          <p:nvPr/>
        </p:nvGraphicFramePr>
        <p:xfrm>
          <a:off x="2843213" y="1916113"/>
          <a:ext cx="3455988" cy="1939925"/>
        </p:xfrm>
        <a:graphic>
          <a:graphicData uri="http://schemas.openxmlformats.org/drawingml/2006/table">
            <a:tbl>
              <a:tblPr/>
              <a:tblGrid>
                <a:gridCol w="1728788"/>
                <a:gridCol w="1727200"/>
              </a:tblGrid>
              <a:tr h="45720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b="1" dirty="0">
                          <a:ea typeface="宋体" panose="02010600030101010101" pitchFamily="2" charset="-122"/>
                        </a:rPr>
                        <a:t>问题</a:t>
                      </a:r>
                      <a:r>
                        <a:rPr lang="en-US" altLang="zh-CN" b="1" i="1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rPr>
                        <a:t>3</a:t>
                      </a:r>
                      <a:endParaRPr lang="zh-CN" altLang="en-US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细黑" panose="02010600040101010101" pitchFamily="2" charset="-122"/>
                      </a:endParaRPr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b="1" dirty="0">
                          <a:ea typeface="宋体" panose="02010600030101010101" pitchFamily="2" charset="-122"/>
                        </a:rPr>
                        <a:t>问题</a:t>
                      </a:r>
                      <a:r>
                        <a:rPr lang="en-US" altLang="zh-CN" b="1" i="1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rPr>
                        <a:t>4</a:t>
                      </a:r>
                      <a:endParaRPr lang="zh-CN" altLang="en-US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细黑" panose="02010600040101010101" pitchFamily="2" charset="-122"/>
                      </a:endParaRP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530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1" i="1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baseline="-25000">
                          <a:latin typeface="Times New Roman" panose="02020603050405020304" pitchFamily="18" charset="0"/>
                        </a:rPr>
                        <a:t>1</a:t>
                      </a:r>
                      <a:r>
                        <a:rPr lang="en-US" altLang="zh-CN"/>
                        <a:t>=</a:t>
                      </a:r>
                      <a:r>
                        <a:rPr lang="en-US" altLang="zh-CN" b="1">
                          <a:latin typeface="Times New Roman" panose="02020603050405020304" pitchFamily="18" charset="0"/>
                        </a:rPr>
                        <a:t>4</a:t>
                      </a:r>
                      <a:endParaRPr lang="zh-CN" altLang="en-US" b="1">
                        <a:latin typeface="Times New Roman" panose="02020603050405020304" pitchFamily="18" charset="0"/>
                      </a:endParaRPr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1" i="1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baseline="-25000">
                          <a:latin typeface="Times New Roman" panose="02020603050405020304" pitchFamily="18" charset="0"/>
                        </a:rPr>
                        <a:t>1</a:t>
                      </a:r>
                      <a:r>
                        <a:rPr lang="en-US" altLang="zh-CN"/>
                        <a:t>=</a:t>
                      </a:r>
                      <a:r>
                        <a:rPr lang="en-US" altLang="zh-CN" b="1">
                          <a:latin typeface="Times New Roman" panose="02020603050405020304" pitchFamily="18" charset="0"/>
                        </a:rPr>
                        <a:t>1.42</a:t>
                      </a:r>
                      <a:endParaRPr lang="zh-CN" altLang="en-US" b="1">
                        <a:latin typeface="Times New Roman" panose="02020603050405020304" pitchFamily="18" charset="0"/>
                      </a:endParaRP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3713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1" i="1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baseline="-25000"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US" altLang="zh-CN" b="1">
                          <a:latin typeface="Times New Roman" panose="02020603050405020304" pitchFamily="18" charset="0"/>
                        </a:rPr>
                        <a:t>=2</a:t>
                      </a:r>
                      <a:endParaRPr lang="zh-CN" altLang="en-US" b="1">
                        <a:latin typeface="Times New Roman" panose="02020603050405020304" pitchFamily="18" charset="0"/>
                      </a:endParaRPr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1" i="1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baseline="-25000"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US" altLang="zh-CN"/>
                        <a:t>=</a:t>
                      </a:r>
                      <a:r>
                        <a:rPr lang="en-US" altLang="zh-CN" b="1">
                          <a:latin typeface="Times New Roman" panose="02020603050405020304" pitchFamily="18" charset="0"/>
                        </a:rPr>
                        <a:t>3</a:t>
                      </a:r>
                      <a:endParaRPr lang="zh-CN" altLang="en-US" b="1">
                        <a:latin typeface="Times New Roman" panose="02020603050405020304" pitchFamily="18" charset="0"/>
                      </a:endParaRP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3712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1" i="1">
                          <a:latin typeface="Times New Roman" panose="02020603050405020304" pitchFamily="18" charset="0"/>
                        </a:rPr>
                        <a:t>z</a:t>
                      </a:r>
                      <a:r>
                        <a:rPr lang="en-US" altLang="zh-CN" b="1" baseline="-25000">
                          <a:latin typeface="Times New Roman" panose="02020603050405020304" pitchFamily="18" charset="0"/>
                        </a:rPr>
                        <a:t>3</a:t>
                      </a:r>
                      <a:r>
                        <a:rPr lang="en-US" altLang="zh-CN" b="1">
                          <a:latin typeface="Times New Roman" panose="02020603050405020304" pitchFamily="18" charset="0"/>
                        </a:rPr>
                        <a:t>=340</a:t>
                      </a:r>
                      <a:endParaRPr lang="zh-CN" altLang="en-US" b="1">
                        <a:latin typeface="Times New Roman" panose="02020603050405020304" pitchFamily="18" charset="0"/>
                      </a:endParaRPr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1" i="1">
                          <a:latin typeface="Times New Roman" panose="02020603050405020304" pitchFamily="18" charset="0"/>
                        </a:rPr>
                        <a:t>z</a:t>
                      </a:r>
                      <a:r>
                        <a:rPr lang="en-US" altLang="zh-CN" b="1" baseline="-25000">
                          <a:latin typeface="Times New Roman" panose="02020603050405020304" pitchFamily="18" charset="0"/>
                        </a:rPr>
                        <a:t>4</a:t>
                      </a:r>
                      <a:r>
                        <a:rPr lang="en-US" altLang="zh-CN"/>
                        <a:t>=</a:t>
                      </a:r>
                      <a:r>
                        <a:rPr lang="en-US" altLang="zh-CN" b="1">
                          <a:latin typeface="Times New Roman" panose="02020603050405020304" pitchFamily="18" charset="0"/>
                        </a:rPr>
                        <a:t>327</a:t>
                      </a:r>
                      <a:endParaRPr lang="zh-CN" altLang="en-US" b="1">
                        <a:latin typeface="Times New Roman" panose="02020603050405020304" pitchFamily="18" charset="0"/>
                      </a:endParaRP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87133" name="矩形 687132"/>
          <p:cNvSpPr/>
          <p:nvPr/>
        </p:nvSpPr>
        <p:spPr>
          <a:xfrm>
            <a:off x="468313" y="5661025"/>
            <a:ext cx="705643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而它大于</a:t>
            </a:r>
            <a:r>
              <a:rPr lang="en-US" altLang="zh-CN" sz="2400" b="1" i="1">
                <a:latin typeface="Times New Roman" panose="02020603050405020304" pitchFamily="18" charset="0"/>
                <a:ea typeface="黑体" panose="02010609060101010101" pitchFamily="2" charset="-122"/>
              </a:rPr>
              <a:t>z</a:t>
            </a:r>
            <a:r>
              <a:rPr lang="en-US" altLang="zh-CN" sz="24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r>
              <a:rPr lang="en-US" altLang="zh-CN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=327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，所以问题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华文细黑" panose="02010600040101010101" pitchFamily="2" charset="-122"/>
              </a:rPr>
              <a:t>B4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没有必要分解。</a:t>
            </a:r>
            <a:endParaRPr lang="zh-CN" altLang="en-US" sz="2400" b="1" dirty="0">
              <a:solidFill>
                <a:srgbClr val="000000"/>
              </a:solidFill>
              <a:latin typeface="宋体" panose="02010600030101010101" pitchFamily="2" charset="-122"/>
              <a:ea typeface="Times New Roman" panose="02020603050405020304" pitchFamily="18" charset="0"/>
            </a:endParaRPr>
          </a:p>
        </p:txBody>
      </p:sp>
      <p:graphicFrame>
        <p:nvGraphicFramePr>
          <p:cNvPr id="687137" name="对象 687136"/>
          <p:cNvGraphicFramePr/>
          <p:nvPr/>
        </p:nvGraphicFramePr>
        <p:xfrm>
          <a:off x="7019925" y="4365625"/>
          <a:ext cx="952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1" imgW="951865" imgH="381000" progId="Equation.DSMT4">
                  <p:embed/>
                </p:oleObj>
              </mc:Choice>
              <mc:Fallback>
                <p:oleObj name="" r:id="rId1" imgW="951865" imgH="381000" progId="Equation.DSMT4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019925" y="4365625"/>
                        <a:ext cx="9525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7139" name="矩形 687138"/>
          <p:cNvSpPr/>
          <p:nvPr/>
        </p:nvSpPr>
        <p:spPr>
          <a:xfrm>
            <a:off x="468313" y="4918075"/>
            <a:ext cx="3860800" cy="5667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13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那么必存在最优整数解，且</a:t>
            </a:r>
            <a:endParaRPr lang="zh-CN" altLang="en-US" sz="24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687140" name="标题 687139"/>
          <p:cNvSpPr>
            <a:spLocks noGrp="1"/>
          </p:cNvSpPr>
          <p:nvPr>
            <p:ph type="title"/>
          </p:nvPr>
        </p:nvSpPr>
        <p:spPr>
          <a:xfrm>
            <a:off x="468313" y="287814"/>
            <a:ext cx="8229600" cy="645160"/>
          </a:xfrm>
        </p:spPr>
        <p:txBody>
          <a:bodyPr anchor="ctr" anchorCtr="0">
            <a:spAutoFit/>
          </a:bodyPr>
          <a:p>
            <a:r>
              <a:rPr lang="en-US" altLang="zh-CN"/>
              <a:t> </a:t>
            </a:r>
            <a:r>
              <a:rPr lang="zh-CN" altLang="en-US" dirty="0"/>
              <a:t>分支定界解法</a:t>
            </a:r>
            <a:endParaRPr lang="zh-CN" altLang="en-US" dirty="0"/>
          </a:p>
        </p:txBody>
      </p:sp>
      <p:graphicFrame>
        <p:nvGraphicFramePr>
          <p:cNvPr id="687142" name="对象 687141"/>
          <p:cNvGraphicFramePr/>
          <p:nvPr/>
        </p:nvGraphicFramePr>
        <p:xfrm>
          <a:off x="4356100" y="5084763"/>
          <a:ext cx="18923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3" imgW="1890395" imgH="355600" progId="Equation.DSMT4">
                  <p:embed/>
                </p:oleObj>
              </mc:Choice>
              <mc:Fallback>
                <p:oleObj name="" r:id="rId3" imgW="1890395" imgH="355600" progId="Equation.DSMT4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56100" y="5084763"/>
                        <a:ext cx="1892300" cy="355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87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87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8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87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87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87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87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7108" grpId="0"/>
      <p:bldP spid="687109" grpId="0"/>
      <p:bldP spid="687133" grpId="0"/>
      <p:bldP spid="68713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8131" name="矩形 688130"/>
          <p:cNvSpPr/>
          <p:nvPr/>
        </p:nvSpPr>
        <p:spPr>
          <a:xfrm>
            <a:off x="395288" y="1557338"/>
            <a:ext cx="8280400" cy="10795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800" u="none" kern="12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5pPr>
          </a:lstStyle>
          <a:p>
            <a:pPr marL="0" lvl="0" indent="0">
              <a:lnSpc>
                <a:spcPct val="130000"/>
              </a:lnSpc>
              <a:buNone/>
            </a:pPr>
            <a:r>
              <a:rPr lang="zh-CN" altLang="en-US" sz="2400" b="1" dirty="0">
                <a:solidFill>
                  <a:srgbClr val="FF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分支：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继续对问题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进行分支，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增加条件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细黑" panose="02010600040101010101" pitchFamily="2" charset="-122"/>
              </a:rPr>
              <a:t>≤1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称为问题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5</a:t>
            </a:r>
            <a:r>
              <a:rPr lang="zh-CN" altLang="en-US" sz="2400" b="1" dirty="0">
                <a:solidFill>
                  <a:srgbClr val="0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；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增加条件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细黑" panose="02010600040101010101" pitchFamily="2" charset="-122"/>
              </a:rPr>
              <a:t>≥2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称为问题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6</a:t>
            </a:r>
            <a:r>
              <a:rPr lang="zh-CN" altLang="en-US" sz="2400" b="1" dirty="0">
                <a:solidFill>
                  <a:srgbClr val="0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。</a:t>
            </a:r>
            <a:endParaRPr lang="zh-CN" altLang="en-US" sz="2400" b="1">
              <a:solidFill>
                <a:srgbClr val="0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688132" name="图片 688131" descr="5g3-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288" y="3068638"/>
            <a:ext cx="4679950" cy="3544887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688156" name="表格 688155"/>
          <p:cNvGraphicFramePr/>
          <p:nvPr/>
        </p:nvGraphicFramePr>
        <p:xfrm>
          <a:off x="5292725" y="2420938"/>
          <a:ext cx="3455988" cy="1939925"/>
        </p:xfrm>
        <a:graphic>
          <a:graphicData uri="http://schemas.openxmlformats.org/drawingml/2006/table">
            <a:tbl>
              <a:tblPr/>
              <a:tblGrid>
                <a:gridCol w="1763713"/>
                <a:gridCol w="1692275"/>
              </a:tblGrid>
              <a:tr h="45720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问题</a:t>
                      </a:r>
                      <a:r>
                        <a:rPr lang="en-US" altLang="zh-CN" b="1" i="1">
                          <a:latin typeface="Times New Roman" panose="02020603050405020304" pitchFamily="18" charset="0"/>
                        </a:rPr>
                        <a:t>B5</a:t>
                      </a:r>
                      <a:endParaRPr lang="zh-CN" altLang="en-US" b="1" i="1">
                        <a:latin typeface="Times New Roman" panose="02020603050405020304" pitchFamily="18" charset="0"/>
                      </a:endParaRPr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问题</a:t>
                      </a:r>
                      <a:r>
                        <a:rPr lang="en-US" altLang="zh-CN" b="1" i="1">
                          <a:latin typeface="Times New Roman" panose="02020603050405020304" pitchFamily="18" charset="0"/>
                        </a:rPr>
                        <a:t>B6</a:t>
                      </a:r>
                      <a:endParaRPr lang="zh-CN" altLang="en-US" b="1" i="1">
                        <a:latin typeface="Times New Roman" panose="02020603050405020304" pitchFamily="18" charset="0"/>
                      </a:endParaRP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530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1" i="1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baseline="-25000">
                          <a:latin typeface="Times New Roman" panose="02020603050405020304" pitchFamily="18" charset="0"/>
                        </a:rPr>
                        <a:t>1</a:t>
                      </a:r>
                      <a:r>
                        <a:rPr lang="en-US" altLang="zh-CN"/>
                        <a:t>=</a:t>
                      </a:r>
                      <a:r>
                        <a:rPr lang="en-US" altLang="zh-CN" b="1">
                          <a:latin typeface="Times New Roman" panose="02020603050405020304" pitchFamily="18" charset="0"/>
                        </a:rPr>
                        <a:t>5.44</a:t>
                      </a:r>
                      <a:endParaRPr lang="zh-CN" altLang="en-US" b="1">
                        <a:latin typeface="Times New Roman" panose="02020603050405020304" pitchFamily="18" charset="0"/>
                      </a:endParaRPr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无可行解</a:t>
                      </a:r>
                      <a:endParaRPr lang="zh-CN" altLang="en-US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3713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1" i="1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baseline="-25000"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US" altLang="zh-CN" b="1">
                          <a:latin typeface="Times New Roman" panose="02020603050405020304" pitchFamily="18" charset="0"/>
                        </a:rPr>
                        <a:t>=1</a:t>
                      </a:r>
                      <a:endParaRPr lang="zh-CN" altLang="en-US" b="1">
                        <a:latin typeface="Times New Roman" panose="02020603050405020304" pitchFamily="18" charset="0"/>
                      </a:endParaRPr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</a:tr>
              <a:tr h="493712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1" i="1">
                          <a:latin typeface="Times New Roman" panose="02020603050405020304" pitchFamily="18" charset="0"/>
                        </a:rPr>
                        <a:t>z</a:t>
                      </a:r>
                      <a:r>
                        <a:rPr lang="en-US" altLang="zh-CN" b="1" baseline="-25000">
                          <a:latin typeface="Times New Roman" panose="02020603050405020304" pitchFamily="18" charset="0"/>
                        </a:rPr>
                        <a:t>5</a:t>
                      </a:r>
                      <a:r>
                        <a:rPr lang="en-US" altLang="zh-CN" b="1">
                          <a:latin typeface="Times New Roman" panose="02020603050405020304" pitchFamily="18" charset="0"/>
                        </a:rPr>
                        <a:t>=308</a:t>
                      </a:r>
                      <a:endParaRPr lang="zh-CN" altLang="en-US" b="1">
                        <a:latin typeface="Times New Roman" panose="02020603050405020304" pitchFamily="18" charset="0"/>
                      </a:endParaRPr>
                    </a:p>
                  </a:txBody>
                  <a:tcPr marL="90000" marR="90000" marT="46800" marB="4680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88157" name="标题 688156"/>
          <p:cNvSpPr>
            <a:spLocks noGrp="1"/>
          </p:cNvSpPr>
          <p:nvPr>
            <p:ph type="title"/>
          </p:nvPr>
        </p:nvSpPr>
        <p:spPr>
          <a:xfrm>
            <a:off x="468313" y="287814"/>
            <a:ext cx="8229600" cy="645160"/>
          </a:xfrm>
        </p:spPr>
        <p:txBody>
          <a:bodyPr anchor="ctr" anchorCtr="0">
            <a:spAutoFit/>
          </a:bodyPr>
          <a:p>
            <a:r>
              <a:rPr lang="en-US" altLang="zh-CN"/>
              <a:t>  </a:t>
            </a:r>
            <a:r>
              <a:rPr lang="zh-CN" altLang="en-US" dirty="0"/>
              <a:t>分支定界解法</a:t>
            </a:r>
            <a:endParaRPr lang="zh-CN" altLang="en-US" dirty="0"/>
          </a:p>
        </p:txBody>
      </p:sp>
      <p:sp>
        <p:nvSpPr>
          <p:cNvPr id="688158" name="矩形 688157"/>
          <p:cNvSpPr/>
          <p:nvPr/>
        </p:nvSpPr>
        <p:spPr>
          <a:xfrm>
            <a:off x="250825" y="1052513"/>
            <a:ext cx="24828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400" b="1" dirty="0">
                <a:solidFill>
                  <a:srgbClr val="FF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>
                <a:solidFill>
                  <a:srgbClr val="FF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 b="1" dirty="0">
                <a:solidFill>
                  <a:srgbClr val="FF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）分支与定界</a:t>
            </a:r>
            <a:endParaRPr lang="zh-CN" altLang="en-US" sz="2400" b="1" dirty="0">
              <a:solidFill>
                <a:srgbClr val="FF00FF"/>
              </a:solidFill>
              <a:latin typeface="宋体" panose="02010600030101010101" pitchFamily="2" charset="-122"/>
              <a:ea typeface="Times New Roman" panose="02020603050405020304" pitchFamily="18" charset="0"/>
            </a:endParaRPr>
          </a:p>
        </p:txBody>
      </p:sp>
      <p:graphicFrame>
        <p:nvGraphicFramePr>
          <p:cNvPr id="688159" name="对象 688158"/>
          <p:cNvGraphicFramePr/>
          <p:nvPr/>
        </p:nvGraphicFramePr>
        <p:xfrm>
          <a:off x="5508625" y="4581525"/>
          <a:ext cx="21463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2" imgW="2144395" imgH="355600" progId="Equation.DSMT4">
                  <p:embed/>
                </p:oleObj>
              </mc:Choice>
              <mc:Fallback>
                <p:oleObj name="" r:id="rId2" imgW="2144395" imgH="355600" progId="Equation.DSMT4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508625" y="4581525"/>
                        <a:ext cx="2146300" cy="355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8161" name="矩形 688160"/>
          <p:cNvSpPr/>
          <p:nvPr/>
        </p:nvSpPr>
        <p:spPr>
          <a:xfrm>
            <a:off x="5219700" y="5157788"/>
            <a:ext cx="3473450" cy="111442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130000"/>
              </a:lnSpc>
              <a:spcBef>
                <a:spcPct val="20000"/>
              </a:spcBef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故最优解为</a:t>
            </a:r>
            <a:r>
              <a:rPr lang="en-US" altLang="zh-CN" sz="2400" b="1" i="1">
                <a:latin typeface="Times New Roman" panose="02020603050405020304" pitchFamily="18" charset="0"/>
                <a:ea typeface="黑体" panose="02010609060101010101" pitchFamily="2" charset="-122"/>
              </a:rPr>
              <a:t>x</a:t>
            </a:r>
            <a:r>
              <a:rPr lang="en-US" altLang="zh-CN" sz="2400" b="1" baseline="-30000">
                <a:solidFill>
                  <a:srgbClr val="000000"/>
                </a:solidFill>
                <a:latin typeface="楷体_GB2312" pitchFamily="49" charset="-122"/>
                <a:ea typeface="黑体" panose="02010609060101010101" pitchFamily="2" charset="-122"/>
              </a:rPr>
              <a:t>1</a:t>
            </a:r>
            <a:r>
              <a:rPr lang="en-US" altLang="zh-CN" sz="2400" b="1">
                <a:solidFill>
                  <a:srgbClr val="000000"/>
                </a:solidFill>
                <a:latin typeface="楷体_GB2312" pitchFamily="49" charset="-122"/>
                <a:ea typeface="黑体" panose="02010609060101010101" pitchFamily="2" charset="-122"/>
              </a:rPr>
              <a:t>=4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1" i="1">
                <a:latin typeface="Times New Roman" panose="02020603050405020304" pitchFamily="18" charset="0"/>
                <a:ea typeface="黑体" panose="02010609060101010101" pitchFamily="2" charset="-122"/>
              </a:rPr>
              <a:t>x</a:t>
            </a:r>
            <a:r>
              <a:rPr lang="en-US" altLang="zh-CN" sz="2400" b="1" baseline="-30000">
                <a:solidFill>
                  <a:srgbClr val="000000"/>
                </a:solidFill>
                <a:latin typeface="楷体_GB2312" pitchFamily="49" charset="-122"/>
                <a:ea typeface="黑体" panose="02010609060101010101" pitchFamily="2" charset="-122"/>
              </a:rPr>
              <a:t>2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=2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</a:t>
            </a:r>
            <a:endParaRPr lang="zh-CN" altLang="en-US" sz="2400" b="1" dirty="0">
              <a:solidFill>
                <a:srgbClr val="000000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ct val="20000"/>
              </a:spcBef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最优值为</a:t>
            </a:r>
            <a:r>
              <a:rPr lang="en-US" altLang="zh-CN" sz="2400" b="1" i="1">
                <a:latin typeface="Times New Roman" panose="02020603050405020304" pitchFamily="18" charset="0"/>
                <a:ea typeface="黑体" panose="02010609060101010101" pitchFamily="2" charset="-122"/>
              </a:rPr>
              <a:t>z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*=340</a:t>
            </a:r>
            <a:r>
              <a:rPr lang="en-US" altLang="zh-CN" sz="2400" b="1">
                <a:solidFill>
                  <a:srgbClr val="000000"/>
                </a:solidFill>
                <a:latin typeface="楷体_GB2312" pitchFamily="49" charset="-122"/>
                <a:ea typeface="黑体" panose="02010609060101010101" pitchFamily="2" charset="-122"/>
              </a:rPr>
              <a:t>.</a:t>
            </a:r>
            <a:endParaRPr lang="en-US" altLang="zh-CN" sz="2400" b="1">
              <a:solidFill>
                <a:srgbClr val="000000"/>
              </a:solidFill>
              <a:latin typeface="楷体_GB2312" pitchFamily="49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88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88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88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88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88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8131" grpId="0"/>
      <p:bldP spid="68816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89155" name="图片 689154" descr="5g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313" y="1125538"/>
            <a:ext cx="7127875" cy="57324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89156" name="矩形 689155"/>
          <p:cNvSpPr/>
          <p:nvPr/>
        </p:nvSpPr>
        <p:spPr>
          <a:xfrm>
            <a:off x="8101013" y="1628775"/>
            <a:ext cx="735012" cy="25923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800" u="none" kern="12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16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5pPr>
          </a:lstStyle>
          <a:p>
            <a:pPr marL="0" lvl="0" indent="0" algn="r">
              <a:buNone/>
            </a:pP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</a:rPr>
              <a:t>                               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  <a:endParaRPr lang="zh-CN" altLang="en-US" sz="2400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marL="0" lvl="0" indent="0" algn="r">
              <a:buNone/>
            </a:pP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题</a:t>
            </a:r>
            <a:endParaRPr lang="zh-CN" altLang="en-US" sz="2400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marL="0" lvl="0" indent="0" algn="r">
              <a:buNone/>
            </a:pP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过</a:t>
            </a:r>
            <a:endParaRPr lang="zh-CN" altLang="en-US" sz="2400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marL="0" lvl="0" indent="0" algn="r">
              <a:buNone/>
            </a:pP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程</a:t>
            </a:r>
            <a:endParaRPr lang="zh-CN" altLang="en-US" sz="2400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marL="0" lvl="0" indent="0">
              <a:buNone/>
            </a:pP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                                         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689158" name="标题 689157"/>
          <p:cNvSpPr>
            <a:spLocks noGrp="1"/>
          </p:cNvSpPr>
          <p:nvPr>
            <p:ph type="title"/>
          </p:nvPr>
        </p:nvSpPr>
        <p:spPr>
          <a:xfrm>
            <a:off x="323850" y="258445"/>
            <a:ext cx="8229600" cy="645160"/>
          </a:xfrm>
        </p:spPr>
        <p:txBody>
          <a:bodyPr anchor="ctr" anchorCtr="0">
            <a:spAutoFit/>
          </a:bodyPr>
          <a:p>
            <a:r>
              <a:rPr lang="en-US" altLang="zh-CN"/>
              <a:t>  </a:t>
            </a:r>
            <a:r>
              <a:rPr lang="zh-CN" altLang="en-US" dirty="0"/>
              <a:t>分支定界解法</a:t>
            </a:r>
            <a:endParaRPr lang="zh-CN" altLang="en-US" dirty="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89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89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915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0179" name="文本占位符 690178"/>
          <p:cNvSpPr>
            <a:spLocks noGrp="1"/>
          </p:cNvSpPr>
          <p:nvPr>
            <p:ph type="body" idx="1"/>
          </p:nvPr>
        </p:nvSpPr>
        <p:spPr>
          <a:xfrm>
            <a:off x="0" y="1125538"/>
            <a:ext cx="4103688" cy="552450"/>
          </a:xfrm>
        </p:spPr>
        <p:txBody>
          <a:bodyPr/>
          <a:p>
            <a:pPr marL="0" indent="0" algn="just">
              <a:spcBef>
                <a:spcPct val="0"/>
              </a:spcBef>
              <a:buClr>
                <a:schemeClr val="bg1"/>
              </a:buClr>
            </a:pPr>
            <a:r>
              <a:rPr lang="en-US" altLang="zh-CN" sz="2400" b="1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ea typeface="宋体" panose="02010600030101010101" pitchFamily="2" charset="-122"/>
              </a:rPr>
              <a:t>用分枝定界法求解</a:t>
            </a:r>
            <a:r>
              <a:rPr lang="en-US" altLang="zh-CN" sz="2400" b="1">
                <a:solidFill>
                  <a:srgbClr val="000000"/>
                </a:solidFill>
                <a:ea typeface="宋体" panose="02010600030101010101" pitchFamily="2" charset="-122"/>
              </a:rPr>
              <a:t>:</a:t>
            </a:r>
            <a:endParaRPr lang="en-US" altLang="zh-CN" sz="2400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90181" name="矩形 690180"/>
          <p:cNvSpPr/>
          <p:nvPr/>
        </p:nvSpPr>
        <p:spPr>
          <a:xfrm>
            <a:off x="323850" y="3141663"/>
            <a:ext cx="3260725" cy="530225"/>
          </a:xfrm>
          <a:prstGeom prst="rect">
            <a:avLst/>
          </a:prstGeom>
          <a:noFill/>
          <a:ln w="2857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120000"/>
              </a:lnSpc>
              <a:spcBef>
                <a:spcPct val="20000"/>
              </a:spcBef>
              <a:buSzPct val="85000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解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: 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先求对应的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</a:rPr>
              <a:t>LP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问题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0183" name="矩形 690182"/>
          <p:cNvSpPr/>
          <p:nvPr/>
        </p:nvSpPr>
        <p:spPr>
          <a:xfrm>
            <a:off x="468313" y="5157788"/>
            <a:ext cx="3598862" cy="53022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  <a:spcBef>
                <a:spcPct val="20000"/>
              </a:spcBef>
              <a:buSzPct val="85000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用图解法得到最优解：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0185" name="标题 690184"/>
          <p:cNvSpPr>
            <a:spLocks noGrp="1"/>
          </p:cNvSpPr>
          <p:nvPr>
            <p:ph type="title"/>
          </p:nvPr>
        </p:nvSpPr>
        <p:spPr>
          <a:xfrm>
            <a:off x="468313" y="288608"/>
            <a:ext cx="8229600" cy="645160"/>
          </a:xfrm>
        </p:spPr>
        <p:txBody>
          <a:bodyPr anchor="ctr" anchorCtr="0">
            <a:spAutoFit/>
          </a:bodyPr>
          <a:p>
            <a:r>
              <a:rPr lang="en-US" altLang="zh-CN"/>
              <a:t> </a:t>
            </a:r>
            <a:r>
              <a:rPr lang="zh-CN" altLang="en-US" dirty="0"/>
              <a:t>分支定界解法</a:t>
            </a:r>
            <a:endParaRPr lang="zh-CN" altLang="en-US" dirty="0"/>
          </a:p>
        </p:txBody>
      </p:sp>
      <p:graphicFrame>
        <p:nvGraphicFramePr>
          <p:cNvPr id="690186" name="对象 690185"/>
          <p:cNvGraphicFramePr/>
          <p:nvPr/>
        </p:nvGraphicFramePr>
        <p:xfrm>
          <a:off x="3924300" y="3213100"/>
          <a:ext cx="3225800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" imgW="3225800" imgH="1828800" progId="Equation.DSMT4">
                  <p:embed/>
                </p:oleObj>
              </mc:Choice>
              <mc:Fallback>
                <p:oleObj name="" r:id="rId1" imgW="3225800" imgH="1828800" progId="Equation.DSMT4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24300" y="3213100"/>
                        <a:ext cx="3225800" cy="1828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0187" name="对象 690186"/>
          <p:cNvGraphicFramePr/>
          <p:nvPr/>
        </p:nvGraphicFramePr>
        <p:xfrm>
          <a:off x="3673475" y="1196975"/>
          <a:ext cx="4241800" cy="187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3" imgW="4241800" imgH="1879600" progId="Equation.DSMT4">
                  <p:embed/>
                </p:oleObj>
              </mc:Choice>
              <mc:Fallback>
                <p:oleObj name="" r:id="rId3" imgW="4241800" imgH="1879600" progId="Equation.DSMT4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73475" y="1196975"/>
                        <a:ext cx="4241800" cy="187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0190" name="对象 690189"/>
          <p:cNvGraphicFramePr/>
          <p:nvPr/>
        </p:nvGraphicFramePr>
        <p:xfrm>
          <a:off x="3851275" y="5229225"/>
          <a:ext cx="3746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5" imgW="3746500" imgH="419100" progId="Equation.DSMT4">
                  <p:embed/>
                </p:oleObj>
              </mc:Choice>
              <mc:Fallback>
                <p:oleObj name="" r:id="rId5" imgW="3746500" imgH="419100" progId="Equation.DSMT4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51275" y="5229225"/>
                        <a:ext cx="37465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9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90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90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90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0181" grpId="0"/>
      <p:bldP spid="69018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1203" name="直接连接符 691202"/>
          <p:cNvSpPr/>
          <p:nvPr/>
        </p:nvSpPr>
        <p:spPr>
          <a:xfrm>
            <a:off x="984250" y="2376488"/>
            <a:ext cx="18097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91204" name="直接连接符 691203"/>
          <p:cNvSpPr/>
          <p:nvPr/>
        </p:nvSpPr>
        <p:spPr>
          <a:xfrm flipV="1">
            <a:off x="5006975" y="6148388"/>
            <a:ext cx="0" cy="1714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91205" name="直接连接符 691204"/>
          <p:cNvSpPr/>
          <p:nvPr/>
        </p:nvSpPr>
        <p:spPr>
          <a:xfrm>
            <a:off x="615950" y="2060575"/>
            <a:ext cx="5670550" cy="462915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91206" name="文本框 691205"/>
          <p:cNvSpPr txBox="1"/>
          <p:nvPr/>
        </p:nvSpPr>
        <p:spPr>
          <a:xfrm>
            <a:off x="4610100" y="6243638"/>
            <a:ext cx="914400" cy="577850"/>
          </a:xfrm>
          <a:prstGeom prst="rect">
            <a:avLst/>
          </a:prstGeom>
          <a:noFill/>
          <a:ln w="9525">
            <a:noFill/>
          </a:ln>
        </p:spPr>
        <p:txBody>
          <a:bodyPr lIns="213348" tIns="106674" rIns="213348" bIns="106674">
            <a:spAutoFit/>
          </a:bodyPr>
          <a:p>
            <a:pPr defTabSz="2133600">
              <a:spcBef>
                <a:spcPct val="50000"/>
              </a:spcBef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10</a:t>
            </a:r>
            <a:endParaRPr lang="en-US" altLang="zh-CN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1207" name="文本框 691206"/>
          <p:cNvSpPr txBox="1"/>
          <p:nvPr/>
        </p:nvSpPr>
        <p:spPr>
          <a:xfrm>
            <a:off x="342900" y="2128838"/>
            <a:ext cx="914400" cy="577850"/>
          </a:xfrm>
          <a:prstGeom prst="rect">
            <a:avLst/>
          </a:prstGeom>
          <a:noFill/>
          <a:ln w="9525">
            <a:noFill/>
          </a:ln>
        </p:spPr>
        <p:txBody>
          <a:bodyPr lIns="213348" tIns="106674" rIns="213348" bIns="106674">
            <a:spAutoFit/>
          </a:bodyPr>
          <a:p>
            <a:pPr defTabSz="2133600">
              <a:spcBef>
                <a:spcPct val="50000"/>
              </a:spcBef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10</a:t>
            </a:r>
            <a:endParaRPr lang="en-US" altLang="zh-CN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691208" name="对象 691207"/>
          <p:cNvGraphicFramePr/>
          <p:nvPr/>
        </p:nvGraphicFramePr>
        <p:xfrm>
          <a:off x="2051050" y="1196975"/>
          <a:ext cx="243363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989965" imgH="190500" progId="Equation.3">
                  <p:embed/>
                </p:oleObj>
              </mc:Choice>
              <mc:Fallback>
                <p:oleObj name="" r:id="rId1" imgW="989965" imgH="1905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51050" y="1196975"/>
                        <a:ext cx="2433638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1209" name="直接连接符 691208"/>
          <p:cNvSpPr/>
          <p:nvPr/>
        </p:nvSpPr>
        <p:spPr>
          <a:xfrm>
            <a:off x="2079625" y="1690688"/>
            <a:ext cx="25622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91210" name="直接连接符 691209"/>
          <p:cNvSpPr/>
          <p:nvPr/>
        </p:nvSpPr>
        <p:spPr>
          <a:xfrm flipH="1">
            <a:off x="1530350" y="1690688"/>
            <a:ext cx="549275" cy="51435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aphicFrame>
        <p:nvGraphicFramePr>
          <p:cNvPr id="691211" name="对象 691210"/>
          <p:cNvGraphicFramePr/>
          <p:nvPr/>
        </p:nvGraphicFramePr>
        <p:xfrm>
          <a:off x="5132388" y="4221163"/>
          <a:ext cx="2247900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3" imgW="913765" imgH="190500" progId="Equation.3">
                  <p:embed/>
                </p:oleObj>
              </mc:Choice>
              <mc:Fallback>
                <p:oleObj name="" r:id="rId3" imgW="913765" imgH="1905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32388" y="4221163"/>
                        <a:ext cx="2247900" cy="5667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1212" name="直接连接符 691211"/>
          <p:cNvSpPr/>
          <p:nvPr/>
        </p:nvSpPr>
        <p:spPr>
          <a:xfrm>
            <a:off x="5187950" y="4776788"/>
            <a:ext cx="21971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91213" name="直接连接符 691212"/>
          <p:cNvSpPr/>
          <p:nvPr/>
        </p:nvSpPr>
        <p:spPr>
          <a:xfrm flipH="1">
            <a:off x="4641850" y="4776788"/>
            <a:ext cx="546100" cy="51435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91214" name="直接连接符 691213"/>
          <p:cNvSpPr/>
          <p:nvPr/>
        </p:nvSpPr>
        <p:spPr>
          <a:xfrm>
            <a:off x="984250" y="2376488"/>
            <a:ext cx="18097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91215" name="线形标注 2 691214"/>
          <p:cNvSpPr/>
          <p:nvPr/>
        </p:nvSpPr>
        <p:spPr>
          <a:xfrm>
            <a:off x="3727450" y="2052638"/>
            <a:ext cx="3365500" cy="990600"/>
          </a:xfrm>
          <a:prstGeom prst="borderCallout2">
            <a:avLst>
              <a:gd name="adj1" fmla="val 11537"/>
              <a:gd name="adj2" fmla="val -2264"/>
              <a:gd name="adj3" fmla="val 11537"/>
              <a:gd name="adj4" fmla="val -22690"/>
              <a:gd name="adj5" fmla="val 125963"/>
              <a:gd name="adj6" fmla="val -44056"/>
            </a:avLst>
          </a:prstGeom>
          <a:solidFill>
            <a:srgbClr val="FFFFCC"/>
          </a:solidFill>
          <a:ln w="12700" cap="flat" cmpd="sng">
            <a:solidFill>
              <a:srgbClr val="FF3399"/>
            </a:solidFill>
            <a:prstDash val="solid"/>
            <a:miter/>
            <a:headEnd type="none" w="med" len="med"/>
            <a:tailEnd type="triangle" w="sm" len="med"/>
          </a:ln>
        </p:spPr>
        <p:txBody>
          <a:bodyPr lIns="213348" tIns="106674" rIns="213348" bIns="106674"/>
          <a:p>
            <a:pPr defTabSz="2133600"/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的最优解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=(3.57,7.14),Z</a:t>
            </a:r>
            <a:r>
              <a:rPr lang="en-US" altLang="zh-CN" sz="2400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=35.7</a:t>
            </a:r>
            <a:endParaRPr lang="en-US" altLang="zh-CN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691216" name="组合 691215"/>
          <p:cNvGrpSpPr/>
          <p:nvPr/>
        </p:nvGrpSpPr>
        <p:grpSpPr>
          <a:xfrm>
            <a:off x="984250" y="2366963"/>
            <a:ext cx="3289300" cy="3952875"/>
            <a:chOff x="288" y="624"/>
            <a:chExt cx="864" cy="1104"/>
          </a:xfrm>
        </p:grpSpPr>
        <p:sp>
          <p:nvSpPr>
            <p:cNvPr id="691217" name="直角三角形 691216"/>
            <p:cNvSpPr/>
            <p:nvPr/>
          </p:nvSpPr>
          <p:spPr>
            <a:xfrm>
              <a:off x="288" y="624"/>
              <a:ext cx="336" cy="288"/>
            </a:xfrm>
            <a:prstGeom prst="rtTriangle">
              <a:avLst/>
            </a:prstGeom>
            <a:solidFill>
              <a:srgbClr val="9966FF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91218" name="矩形 691217"/>
            <p:cNvSpPr/>
            <p:nvPr/>
          </p:nvSpPr>
          <p:spPr>
            <a:xfrm>
              <a:off x="288" y="912"/>
              <a:ext cx="336" cy="816"/>
            </a:xfrm>
            <a:prstGeom prst="rect">
              <a:avLst/>
            </a:prstGeom>
            <a:solidFill>
              <a:srgbClr val="9966FF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91219" name="直角三角形 691218"/>
            <p:cNvSpPr/>
            <p:nvPr/>
          </p:nvSpPr>
          <p:spPr>
            <a:xfrm>
              <a:off x="624" y="912"/>
              <a:ext cx="528" cy="816"/>
            </a:xfrm>
            <a:prstGeom prst="rtTriangle">
              <a:avLst/>
            </a:prstGeom>
            <a:solidFill>
              <a:srgbClr val="9966FF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691220" name="直接连接符 691219"/>
          <p:cNvSpPr/>
          <p:nvPr/>
        </p:nvSpPr>
        <p:spPr>
          <a:xfrm flipH="1" flipV="1">
            <a:off x="971550" y="1341438"/>
            <a:ext cx="12700" cy="514985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91221" name="直接连接符 691220"/>
          <p:cNvSpPr/>
          <p:nvPr/>
        </p:nvSpPr>
        <p:spPr>
          <a:xfrm>
            <a:off x="434975" y="6319838"/>
            <a:ext cx="804545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91222" name="直接连接符 691221"/>
          <p:cNvSpPr/>
          <p:nvPr/>
        </p:nvSpPr>
        <p:spPr>
          <a:xfrm>
            <a:off x="684213" y="1196975"/>
            <a:ext cx="3957637" cy="5637213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91223" name="文本框 691222"/>
          <p:cNvSpPr txBox="1"/>
          <p:nvPr/>
        </p:nvSpPr>
        <p:spPr>
          <a:xfrm>
            <a:off x="8175625" y="6196013"/>
            <a:ext cx="762000" cy="577850"/>
          </a:xfrm>
          <a:prstGeom prst="rect">
            <a:avLst/>
          </a:prstGeom>
          <a:noFill/>
          <a:ln w="9525">
            <a:noFill/>
          </a:ln>
        </p:spPr>
        <p:txBody>
          <a:bodyPr lIns="213348" tIns="106674" rIns="213348" bIns="106674">
            <a:spAutoFit/>
          </a:bodyPr>
          <a:p>
            <a:pPr defTabSz="2133600"/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1224" name="文本框 691223"/>
          <p:cNvSpPr txBox="1"/>
          <p:nvPr/>
        </p:nvSpPr>
        <p:spPr>
          <a:xfrm>
            <a:off x="344488" y="1052513"/>
            <a:ext cx="914400" cy="577850"/>
          </a:xfrm>
          <a:prstGeom prst="rect">
            <a:avLst/>
          </a:prstGeom>
          <a:noFill/>
          <a:ln w="9525">
            <a:noFill/>
          </a:ln>
        </p:spPr>
        <p:txBody>
          <a:bodyPr lIns="213348" tIns="106674" rIns="213348" bIns="106674">
            <a:spAutoFit/>
          </a:bodyPr>
          <a:p>
            <a:pPr defTabSz="2133600"/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en-US" altLang="zh-CN" sz="2400" b="1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1225" name="文本框 691224"/>
          <p:cNvSpPr txBox="1"/>
          <p:nvPr/>
        </p:nvSpPr>
        <p:spPr>
          <a:xfrm>
            <a:off x="495300" y="6142038"/>
            <a:ext cx="577850" cy="577850"/>
          </a:xfrm>
          <a:prstGeom prst="rect">
            <a:avLst/>
          </a:prstGeom>
          <a:noFill/>
          <a:ln w="9525">
            <a:noFill/>
          </a:ln>
        </p:spPr>
        <p:txBody>
          <a:bodyPr wrap="none" lIns="213348" tIns="106674" rIns="213348" bIns="106674" anchor="t" anchorCtr="0">
            <a:spAutoFit/>
          </a:bodyPr>
          <a:p>
            <a:pPr defTabSz="2133600"/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</a:rPr>
              <a:t>o</a:t>
            </a:r>
            <a:endParaRPr lang="en-US" altLang="zh-CN" sz="2400" b="1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1226" name="文本框 691225"/>
          <p:cNvSpPr txBox="1"/>
          <p:nvPr/>
        </p:nvSpPr>
        <p:spPr>
          <a:xfrm>
            <a:off x="800100" y="1912938"/>
            <a:ext cx="628650" cy="577850"/>
          </a:xfrm>
          <a:prstGeom prst="rect">
            <a:avLst/>
          </a:prstGeom>
          <a:noFill/>
          <a:ln w="9525">
            <a:noFill/>
          </a:ln>
        </p:spPr>
        <p:txBody>
          <a:bodyPr wrap="none" lIns="213348" tIns="106674" rIns="213348" bIns="106674" anchor="t" anchorCtr="0">
            <a:spAutoFit/>
          </a:bodyPr>
          <a:p>
            <a:pPr defTabSz="2133600"/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endParaRPr lang="en-US" altLang="zh-CN" sz="2400" b="1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1227" name="文本框 691226"/>
          <p:cNvSpPr txBox="1"/>
          <p:nvPr/>
        </p:nvSpPr>
        <p:spPr>
          <a:xfrm>
            <a:off x="2225675" y="3024188"/>
            <a:ext cx="628650" cy="577850"/>
          </a:xfrm>
          <a:prstGeom prst="rect">
            <a:avLst/>
          </a:prstGeom>
          <a:noFill/>
          <a:ln w="9525">
            <a:noFill/>
          </a:ln>
        </p:spPr>
        <p:txBody>
          <a:bodyPr wrap="none" lIns="213348" tIns="106674" rIns="213348" bIns="106674" anchor="t" anchorCtr="0">
            <a:spAutoFit/>
          </a:bodyPr>
          <a:p>
            <a:pPr defTabSz="2133600"/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endParaRPr lang="en-US" altLang="zh-CN" sz="2400" b="1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1228" name="文本框 691227"/>
          <p:cNvSpPr txBox="1"/>
          <p:nvPr/>
        </p:nvSpPr>
        <p:spPr>
          <a:xfrm>
            <a:off x="4054475" y="5767388"/>
            <a:ext cx="628650" cy="577850"/>
          </a:xfrm>
          <a:prstGeom prst="rect">
            <a:avLst/>
          </a:prstGeom>
          <a:noFill/>
          <a:ln w="9525">
            <a:noFill/>
          </a:ln>
        </p:spPr>
        <p:txBody>
          <a:bodyPr wrap="none" lIns="213348" tIns="106674" rIns="213348" bIns="106674" anchor="t" anchorCtr="0">
            <a:spAutoFit/>
          </a:bodyPr>
          <a:p>
            <a:pPr defTabSz="2133600"/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endParaRPr lang="en-US" altLang="zh-CN" sz="2400" b="1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1230" name="标题 691229"/>
          <p:cNvSpPr>
            <a:spLocks noGrp="1"/>
          </p:cNvSpPr>
          <p:nvPr>
            <p:ph type="title"/>
          </p:nvPr>
        </p:nvSpPr>
        <p:spPr>
          <a:xfrm>
            <a:off x="468313" y="287814"/>
            <a:ext cx="8229600" cy="645160"/>
          </a:xfrm>
        </p:spPr>
        <p:txBody>
          <a:bodyPr anchor="ctr" anchorCtr="0">
            <a:spAutoFit/>
          </a:bodyPr>
          <a:p>
            <a:r>
              <a:rPr lang="en-US" altLang="zh-CN"/>
              <a:t>  </a:t>
            </a:r>
            <a:r>
              <a:rPr lang="zh-CN" altLang="en-US" dirty="0"/>
              <a:t>分支定界解法</a:t>
            </a:r>
            <a:endParaRPr lang="zh-CN" altLang="en-US" dirty="0"/>
          </a:p>
        </p:txBody>
      </p:sp>
    </p:spTree>
  </p:cSld>
  <p:clrMapOvr>
    <a:masterClrMapping/>
  </p:clrMapOvr>
  <p:transition>
    <p:blinds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2228" name="直角三角形 692227"/>
          <p:cNvSpPr/>
          <p:nvPr/>
        </p:nvSpPr>
        <p:spPr>
          <a:xfrm>
            <a:off x="2536825" y="3740150"/>
            <a:ext cx="1828800" cy="2663825"/>
          </a:xfrm>
          <a:prstGeom prst="rtTriangle">
            <a:avLst/>
          </a:prstGeom>
          <a:solidFill>
            <a:srgbClr val="FFFF00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grpSp>
        <p:nvGrpSpPr>
          <p:cNvPr id="692229" name="组合 692228"/>
          <p:cNvGrpSpPr/>
          <p:nvPr/>
        </p:nvGrpSpPr>
        <p:grpSpPr>
          <a:xfrm>
            <a:off x="1012825" y="2368550"/>
            <a:ext cx="1066800" cy="4044950"/>
            <a:chOff x="336" y="672"/>
            <a:chExt cx="336" cy="1267"/>
          </a:xfrm>
        </p:grpSpPr>
        <p:sp>
          <p:nvSpPr>
            <p:cNvPr id="692230" name="直角三角形 692229"/>
            <p:cNvSpPr/>
            <p:nvPr/>
          </p:nvSpPr>
          <p:spPr>
            <a:xfrm>
              <a:off x="336" y="672"/>
              <a:ext cx="336" cy="288"/>
            </a:xfrm>
            <a:prstGeom prst="rtTriangle">
              <a:avLst/>
            </a:prstGeom>
            <a:solidFill>
              <a:srgbClr val="0099FF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92231" name="矩形 692230"/>
            <p:cNvSpPr/>
            <p:nvPr/>
          </p:nvSpPr>
          <p:spPr>
            <a:xfrm>
              <a:off x="336" y="960"/>
              <a:ext cx="336" cy="979"/>
            </a:xfrm>
            <a:prstGeom prst="rect">
              <a:avLst/>
            </a:prstGeom>
            <a:solidFill>
              <a:srgbClr val="0099FF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692232" name="直接连接符 692231"/>
          <p:cNvSpPr/>
          <p:nvPr/>
        </p:nvSpPr>
        <p:spPr>
          <a:xfrm>
            <a:off x="676275" y="2120900"/>
            <a:ext cx="5518150" cy="451485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92233" name="文本框 692232"/>
          <p:cNvSpPr txBox="1"/>
          <p:nvPr/>
        </p:nvSpPr>
        <p:spPr>
          <a:xfrm>
            <a:off x="403225" y="2216150"/>
            <a:ext cx="914400" cy="577850"/>
          </a:xfrm>
          <a:prstGeom prst="rect">
            <a:avLst/>
          </a:prstGeom>
          <a:noFill/>
          <a:ln w="9525">
            <a:noFill/>
          </a:ln>
        </p:spPr>
        <p:txBody>
          <a:bodyPr lIns="213348" tIns="106674" rIns="213348" bIns="106674">
            <a:spAutoFit/>
          </a:bodyPr>
          <a:p>
            <a:pPr defTabSz="2133600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10</a:t>
            </a:r>
            <a:endParaRPr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692234" name="直接连接符 692233"/>
          <p:cNvSpPr/>
          <p:nvPr/>
        </p:nvSpPr>
        <p:spPr>
          <a:xfrm>
            <a:off x="1012825" y="2368550"/>
            <a:ext cx="18097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92235" name="直接连接符 692234"/>
          <p:cNvSpPr/>
          <p:nvPr/>
        </p:nvSpPr>
        <p:spPr>
          <a:xfrm flipH="1" flipV="1">
            <a:off x="992188" y="1177925"/>
            <a:ext cx="20637" cy="534352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92236" name="直接连接符 692235"/>
          <p:cNvSpPr/>
          <p:nvPr/>
        </p:nvSpPr>
        <p:spPr>
          <a:xfrm>
            <a:off x="495300" y="6407150"/>
            <a:ext cx="804545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92237" name="直接连接符 692236"/>
          <p:cNvSpPr/>
          <p:nvPr/>
        </p:nvSpPr>
        <p:spPr>
          <a:xfrm>
            <a:off x="708025" y="1149350"/>
            <a:ext cx="3810000" cy="54864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92238" name="文本框 692237"/>
          <p:cNvSpPr txBox="1"/>
          <p:nvPr/>
        </p:nvSpPr>
        <p:spPr>
          <a:xfrm>
            <a:off x="468313" y="842963"/>
            <a:ext cx="914400" cy="641350"/>
          </a:xfrm>
          <a:prstGeom prst="rect">
            <a:avLst/>
          </a:prstGeom>
          <a:noFill/>
          <a:ln w="9525">
            <a:noFill/>
          </a:ln>
        </p:spPr>
        <p:txBody>
          <a:bodyPr lIns="213348" tIns="106674" rIns="213348" bIns="106674">
            <a:spAutoFit/>
          </a:bodyPr>
          <a:p>
            <a:pPr defTabSz="2133600"/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2</a:t>
            </a:r>
            <a:endParaRPr lang="en-US" altLang="zh-CN" sz="2800" b="1" i="1">
              <a:latin typeface="Times New Roman" panose="02020603050405020304" pitchFamily="18" charset="0"/>
            </a:endParaRPr>
          </a:p>
        </p:txBody>
      </p:sp>
      <p:sp>
        <p:nvSpPr>
          <p:cNvPr id="692239" name="文本框 692238"/>
          <p:cNvSpPr txBox="1"/>
          <p:nvPr/>
        </p:nvSpPr>
        <p:spPr>
          <a:xfrm>
            <a:off x="555625" y="6229350"/>
            <a:ext cx="577850" cy="577850"/>
          </a:xfrm>
          <a:prstGeom prst="rect">
            <a:avLst/>
          </a:prstGeom>
          <a:noFill/>
          <a:ln w="9525">
            <a:noFill/>
          </a:ln>
        </p:spPr>
        <p:txBody>
          <a:bodyPr wrap="none" lIns="213348" tIns="106674" rIns="213348" bIns="106674" anchor="t" anchorCtr="0">
            <a:spAutoFit/>
          </a:bodyPr>
          <a:p>
            <a:pPr defTabSz="2133600"/>
            <a:r>
              <a:rPr lang="en-US" altLang="zh-CN" sz="2400" b="1" i="1">
                <a:latin typeface="Times New Roman" panose="02020603050405020304" pitchFamily="18" charset="0"/>
              </a:rPr>
              <a:t>o</a:t>
            </a:r>
            <a:endParaRPr lang="en-US" altLang="zh-CN" sz="2400" b="1" i="1">
              <a:latin typeface="Times New Roman" panose="02020603050405020304" pitchFamily="18" charset="0"/>
            </a:endParaRPr>
          </a:p>
        </p:txBody>
      </p:sp>
      <p:sp>
        <p:nvSpPr>
          <p:cNvPr id="692240" name="文本框 692239"/>
          <p:cNvSpPr txBox="1"/>
          <p:nvPr/>
        </p:nvSpPr>
        <p:spPr>
          <a:xfrm>
            <a:off x="860425" y="1911350"/>
            <a:ext cx="609600" cy="577850"/>
          </a:xfrm>
          <a:prstGeom prst="rect">
            <a:avLst/>
          </a:prstGeom>
          <a:noFill/>
          <a:ln w="9525">
            <a:noFill/>
          </a:ln>
        </p:spPr>
        <p:txBody>
          <a:bodyPr lIns="213348" tIns="106674" rIns="213348" bIns="106674">
            <a:spAutoFit/>
          </a:bodyPr>
          <a:p>
            <a:pPr defTabSz="2133600"/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endParaRPr lang="en-US" altLang="zh-CN" sz="2400" b="1" i="1">
              <a:latin typeface="Times New Roman" panose="02020603050405020304" pitchFamily="18" charset="0"/>
            </a:endParaRPr>
          </a:p>
        </p:txBody>
      </p:sp>
      <p:sp>
        <p:nvSpPr>
          <p:cNvPr id="692241" name="文本框 692240"/>
          <p:cNvSpPr txBox="1"/>
          <p:nvPr/>
        </p:nvSpPr>
        <p:spPr>
          <a:xfrm>
            <a:off x="2384425" y="3181350"/>
            <a:ext cx="628650" cy="577850"/>
          </a:xfrm>
          <a:prstGeom prst="rect">
            <a:avLst/>
          </a:prstGeom>
          <a:noFill/>
          <a:ln w="9525">
            <a:noFill/>
          </a:ln>
        </p:spPr>
        <p:txBody>
          <a:bodyPr wrap="none" lIns="213348" tIns="106674" rIns="213348" bIns="106674" anchor="t" anchorCtr="0">
            <a:spAutoFit/>
          </a:bodyPr>
          <a:p>
            <a:pPr defTabSz="2133600"/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endParaRPr lang="en-US" altLang="zh-CN" sz="2400" b="1" i="1">
              <a:latin typeface="Times New Roman" panose="02020603050405020304" pitchFamily="18" charset="0"/>
            </a:endParaRPr>
          </a:p>
        </p:txBody>
      </p:sp>
      <p:sp>
        <p:nvSpPr>
          <p:cNvPr id="692242" name="文本框 692241"/>
          <p:cNvSpPr txBox="1"/>
          <p:nvPr/>
        </p:nvSpPr>
        <p:spPr>
          <a:xfrm>
            <a:off x="4114800" y="5946775"/>
            <a:ext cx="628650" cy="577850"/>
          </a:xfrm>
          <a:prstGeom prst="rect">
            <a:avLst/>
          </a:prstGeom>
          <a:noFill/>
          <a:ln w="9525">
            <a:noFill/>
          </a:ln>
        </p:spPr>
        <p:txBody>
          <a:bodyPr wrap="none" lIns="213348" tIns="106674" rIns="213348" bIns="106674" anchor="t" anchorCtr="0">
            <a:spAutoFit/>
          </a:bodyPr>
          <a:p>
            <a:pPr defTabSz="2133600"/>
            <a:r>
              <a:rPr lang="en-US" altLang="zh-CN" sz="2400" b="1" i="1">
                <a:latin typeface="Times New Roman" panose="02020603050405020304" pitchFamily="18" charset="0"/>
              </a:rPr>
              <a:t>C</a:t>
            </a:r>
            <a:endParaRPr lang="en-US" altLang="zh-CN" sz="2400" b="1" i="1">
              <a:latin typeface="Times New Roman" panose="02020603050405020304" pitchFamily="18" charset="0"/>
            </a:endParaRPr>
          </a:p>
        </p:txBody>
      </p:sp>
      <p:sp>
        <p:nvSpPr>
          <p:cNvPr id="692244" name="直接连接符 692243"/>
          <p:cNvSpPr/>
          <p:nvPr/>
        </p:nvSpPr>
        <p:spPr>
          <a:xfrm>
            <a:off x="2079625" y="2216150"/>
            <a:ext cx="0" cy="44196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92245" name="直接连接符 692244"/>
          <p:cNvSpPr/>
          <p:nvPr/>
        </p:nvSpPr>
        <p:spPr>
          <a:xfrm>
            <a:off x="2536825" y="3130550"/>
            <a:ext cx="0" cy="35052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92246" name="文本框 692245"/>
          <p:cNvSpPr txBox="1"/>
          <p:nvPr/>
        </p:nvSpPr>
        <p:spPr>
          <a:xfrm>
            <a:off x="1317625" y="4502150"/>
            <a:ext cx="365125" cy="5588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91440" rIns="0" bIns="91440">
            <a:spAutoFit/>
          </a:bodyPr>
          <a:p>
            <a:pPr defTabSz="1828800"/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</a:rPr>
              <a:t>1</a:t>
            </a:r>
            <a:endParaRPr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692247" name="文本框 692246"/>
          <p:cNvSpPr txBox="1"/>
          <p:nvPr/>
        </p:nvSpPr>
        <p:spPr>
          <a:xfrm>
            <a:off x="2841625" y="5264150"/>
            <a:ext cx="365125" cy="5588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91440" rIns="0" bIns="91440">
            <a:spAutoFit/>
          </a:bodyPr>
          <a:p>
            <a:pPr defTabSz="1828800" eaLnBrk="0" hangingPunct="0"/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</a:rPr>
              <a:t>2</a:t>
            </a:r>
            <a:endParaRPr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692248" name="文本框 692247"/>
          <p:cNvSpPr txBox="1"/>
          <p:nvPr/>
        </p:nvSpPr>
        <p:spPr>
          <a:xfrm>
            <a:off x="1835150" y="6381750"/>
            <a:ext cx="457200" cy="365125"/>
          </a:xfrm>
          <a:prstGeom prst="rect">
            <a:avLst/>
          </a:prstGeom>
          <a:noFill/>
          <a:ln w="9525">
            <a:noFill/>
          </a:ln>
        </p:spPr>
        <p:txBody>
          <a:bodyPr lIns="36000" tIns="0" rIns="36000" bIns="0">
            <a:spAutoFit/>
          </a:bodyPr>
          <a:p>
            <a:pPr defTabSz="1828800"/>
            <a:r>
              <a:rPr lang="en-US" altLang="zh-CN" sz="2400" b="1">
                <a:latin typeface="Times New Roman" panose="02020603050405020304" pitchFamily="18" charset="0"/>
              </a:rPr>
              <a:t>3</a:t>
            </a:r>
            <a:endParaRPr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692249" name="文本框 692248"/>
          <p:cNvSpPr txBox="1"/>
          <p:nvPr/>
        </p:nvSpPr>
        <p:spPr>
          <a:xfrm>
            <a:off x="2536825" y="6381750"/>
            <a:ext cx="457200" cy="365125"/>
          </a:xfrm>
          <a:prstGeom prst="rect">
            <a:avLst/>
          </a:prstGeom>
          <a:noFill/>
          <a:ln w="9525">
            <a:noFill/>
          </a:ln>
        </p:spPr>
        <p:txBody>
          <a:bodyPr lIns="36000" tIns="0" rIns="36000" bIns="0">
            <a:spAutoFit/>
          </a:bodyPr>
          <a:p>
            <a:pPr defTabSz="1828800" eaLnBrk="0" hangingPunct="0"/>
            <a:r>
              <a:rPr lang="en-US" altLang="zh-CN" sz="2400" b="1">
                <a:latin typeface="Times New Roman" panose="02020603050405020304" pitchFamily="18" charset="0"/>
              </a:rPr>
              <a:t>4</a:t>
            </a:r>
            <a:endParaRPr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692250" name="线形标注 2 692249"/>
          <p:cNvSpPr/>
          <p:nvPr/>
        </p:nvSpPr>
        <p:spPr>
          <a:xfrm>
            <a:off x="2916238" y="2182813"/>
            <a:ext cx="2897187" cy="533400"/>
          </a:xfrm>
          <a:prstGeom prst="borderCallout2">
            <a:avLst>
              <a:gd name="adj1" fmla="val 21431"/>
              <a:gd name="adj2" fmla="val -2630"/>
              <a:gd name="adj3" fmla="val 21431"/>
              <a:gd name="adj4" fmla="val -15671"/>
              <a:gd name="adj5" fmla="val 194347"/>
              <a:gd name="adj6" fmla="val -28875"/>
            </a:avLst>
          </a:prstGeom>
          <a:solidFill>
            <a:srgbClr val="FFFFCC"/>
          </a:solidFill>
          <a:ln w="9525" cap="flat" cmpd="sng">
            <a:solidFill>
              <a:srgbClr val="FF3399"/>
            </a:solidFill>
            <a:prstDash val="solid"/>
            <a:miter/>
            <a:headEnd type="none" w="med" len="med"/>
            <a:tailEnd type="triangle" w="sm" len="med"/>
          </a:ln>
        </p:spPr>
        <p:txBody>
          <a:bodyPr lIns="72000" tIns="0" rIns="72000" bIns="0"/>
          <a:p>
            <a:pPr defTabSz="1828800" eaLnBrk="0" hangingPunct="0"/>
            <a:r>
              <a:rPr lang="en-US" altLang="zh-CN" sz="2200" b="1" i="1">
                <a:latin typeface="Times New Roman" panose="02020603050405020304" pitchFamily="18" charset="0"/>
              </a:rPr>
              <a:t>B</a:t>
            </a:r>
            <a:r>
              <a:rPr lang="en-US" altLang="zh-CN" sz="2200" b="1">
                <a:latin typeface="Times New Roman" panose="02020603050405020304" pitchFamily="18" charset="0"/>
              </a:rPr>
              <a:t>1:</a:t>
            </a:r>
            <a:r>
              <a:rPr lang="en-US" altLang="zh-CN" sz="2200" b="1" i="1">
                <a:latin typeface="Times New Roman" panose="02020603050405020304" pitchFamily="18" charset="0"/>
              </a:rPr>
              <a:t>X</a:t>
            </a:r>
            <a:r>
              <a:rPr lang="en-US" altLang="zh-CN" sz="2200" b="1">
                <a:latin typeface="Times New Roman" panose="02020603050405020304" pitchFamily="18" charset="0"/>
              </a:rPr>
              <a:t>=(3,7.6),z</a:t>
            </a:r>
            <a:r>
              <a:rPr lang="en-US" altLang="zh-CN" sz="22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200" b="1">
                <a:latin typeface="Times New Roman" panose="02020603050405020304" pitchFamily="18" charset="0"/>
              </a:rPr>
              <a:t>=34.8</a:t>
            </a:r>
            <a:endParaRPr lang="en-US" altLang="zh-CN" sz="2200" b="1">
              <a:latin typeface="Times New Roman" panose="02020603050405020304" pitchFamily="18" charset="0"/>
            </a:endParaRPr>
          </a:p>
        </p:txBody>
      </p:sp>
      <p:sp>
        <p:nvSpPr>
          <p:cNvPr id="692252" name="文本框 692251"/>
          <p:cNvSpPr txBox="1"/>
          <p:nvPr/>
        </p:nvSpPr>
        <p:spPr>
          <a:xfrm>
            <a:off x="4356100" y="6299200"/>
            <a:ext cx="671513" cy="549275"/>
          </a:xfrm>
          <a:prstGeom prst="rect">
            <a:avLst/>
          </a:prstGeom>
          <a:noFill/>
          <a:ln w="9525">
            <a:noFill/>
          </a:ln>
        </p:spPr>
        <p:txBody>
          <a:bodyPr wrap="none" lIns="182880" tIns="91440" rIns="182880" bIns="91440" anchor="t" anchorCtr="0">
            <a:spAutoFit/>
          </a:bodyPr>
          <a:p>
            <a:pPr defTabSz="1828800"/>
            <a:r>
              <a:rPr lang="en-US" altLang="zh-CN" sz="2400" b="1">
                <a:latin typeface="Times New Roman" panose="02020603050405020304" pitchFamily="18" charset="0"/>
              </a:rPr>
              <a:t>①</a:t>
            </a:r>
            <a:endParaRPr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692253" name="文本框 692252"/>
          <p:cNvSpPr txBox="1"/>
          <p:nvPr/>
        </p:nvSpPr>
        <p:spPr>
          <a:xfrm>
            <a:off x="6011863" y="6264275"/>
            <a:ext cx="609600" cy="549275"/>
          </a:xfrm>
          <a:prstGeom prst="rect">
            <a:avLst/>
          </a:prstGeom>
          <a:noFill/>
          <a:ln w="9525">
            <a:noFill/>
          </a:ln>
        </p:spPr>
        <p:txBody>
          <a:bodyPr lIns="182880" tIns="91440" rIns="182880" bIns="91440">
            <a:spAutoFit/>
          </a:bodyPr>
          <a:p>
            <a:pPr defTabSz="1828800"/>
            <a:r>
              <a:rPr lang="en-US" altLang="zh-CN" sz="2400" b="1">
                <a:latin typeface="Times New Roman" panose="02020603050405020304" pitchFamily="18" charset="0"/>
              </a:rPr>
              <a:t>②</a:t>
            </a:r>
            <a:endParaRPr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692254" name="线形标注 2 692253"/>
          <p:cNvSpPr/>
          <p:nvPr/>
        </p:nvSpPr>
        <p:spPr>
          <a:xfrm>
            <a:off x="3276600" y="3933825"/>
            <a:ext cx="2879725" cy="431800"/>
          </a:xfrm>
          <a:prstGeom prst="borderCallout2">
            <a:avLst>
              <a:gd name="adj1" fmla="val 26472"/>
              <a:gd name="adj2" fmla="val -2648"/>
              <a:gd name="adj3" fmla="val 26472"/>
              <a:gd name="adj4" fmla="val -13727"/>
              <a:gd name="adj5" fmla="val -27204"/>
              <a:gd name="adj6" fmla="val -25468"/>
            </a:avLst>
          </a:prstGeom>
          <a:solidFill>
            <a:srgbClr val="FFFFCC"/>
          </a:solidFill>
          <a:ln w="9525" cap="flat" cmpd="sng">
            <a:solidFill>
              <a:srgbClr val="FF3399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 lIns="72000" tIns="0" rIns="0" bIns="0"/>
          <a:p>
            <a:pPr defTabSz="1828800" eaLnBrk="0" hangingPunct="0"/>
            <a:r>
              <a:rPr lang="en-US" altLang="zh-CN" sz="2200" b="1" i="1">
                <a:latin typeface="Times New Roman" panose="02020603050405020304" pitchFamily="18" charset="0"/>
              </a:rPr>
              <a:t>B</a:t>
            </a:r>
            <a:r>
              <a:rPr lang="en-US" altLang="zh-CN" sz="2200" b="1">
                <a:latin typeface="Times New Roman" panose="02020603050405020304" pitchFamily="18" charset="0"/>
              </a:rPr>
              <a:t>2:</a:t>
            </a:r>
            <a:r>
              <a:rPr lang="en-US" altLang="zh-CN" sz="2200" b="1" i="1">
                <a:latin typeface="Times New Roman" panose="02020603050405020304" pitchFamily="18" charset="0"/>
              </a:rPr>
              <a:t>X</a:t>
            </a:r>
            <a:r>
              <a:rPr lang="en-US" altLang="zh-CN" sz="2200" b="1">
                <a:latin typeface="Times New Roman" panose="02020603050405020304" pitchFamily="18" charset="0"/>
              </a:rPr>
              <a:t>=(4,6.5),z</a:t>
            </a:r>
            <a:r>
              <a:rPr lang="en-US" altLang="zh-CN" sz="22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200" b="1">
                <a:latin typeface="Times New Roman" panose="02020603050405020304" pitchFamily="18" charset="0"/>
              </a:rPr>
              <a:t>=35.5</a:t>
            </a:r>
            <a:endParaRPr lang="en-US" altLang="zh-CN" sz="2200" b="1">
              <a:latin typeface="Times New Roman" panose="02020603050405020304" pitchFamily="18" charset="0"/>
            </a:endParaRPr>
          </a:p>
        </p:txBody>
      </p:sp>
      <p:pic>
        <p:nvPicPr>
          <p:cNvPr id="692255" name="图片 692254" descr="BD14868_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0563" y="3213100"/>
            <a:ext cx="215900" cy="2159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92256" name="图片 692255" descr="BD14868_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1413" y="3717925"/>
            <a:ext cx="215900" cy="215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92258" name="标题 692257"/>
          <p:cNvSpPr>
            <a:spLocks noGrp="1"/>
          </p:cNvSpPr>
          <p:nvPr>
            <p:ph type="title"/>
          </p:nvPr>
        </p:nvSpPr>
        <p:spPr>
          <a:xfrm>
            <a:off x="468313" y="288608"/>
            <a:ext cx="8229600" cy="645160"/>
          </a:xfrm>
        </p:spPr>
        <p:txBody>
          <a:bodyPr anchor="ctr" anchorCtr="0">
            <a:spAutoFit/>
          </a:bodyPr>
          <a:p>
            <a:r>
              <a:rPr lang="en-US" altLang="zh-CN"/>
              <a:t> </a:t>
            </a:r>
            <a:r>
              <a:rPr lang="zh-CN" altLang="en-US" dirty="0"/>
              <a:t>分支定界解法</a:t>
            </a:r>
            <a:endParaRPr lang="zh-CN" altLang="en-US" dirty="0"/>
          </a:p>
        </p:txBody>
      </p:sp>
      <p:graphicFrame>
        <p:nvGraphicFramePr>
          <p:cNvPr id="692259" name="对象 692258"/>
          <p:cNvGraphicFramePr/>
          <p:nvPr/>
        </p:nvGraphicFramePr>
        <p:xfrm>
          <a:off x="6107113" y="1681163"/>
          <a:ext cx="2387600" cy="194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2" imgW="2387600" imgH="1943100" progId="Equation.DSMT4">
                  <p:embed/>
                </p:oleObj>
              </mc:Choice>
              <mc:Fallback>
                <p:oleObj name="" r:id="rId2" imgW="2387600" imgH="1943100" progId="Equation.DSMT4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107113" y="1681163"/>
                        <a:ext cx="2387600" cy="1943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2260" name="对象 692259"/>
          <p:cNvGraphicFramePr/>
          <p:nvPr/>
        </p:nvGraphicFramePr>
        <p:xfrm>
          <a:off x="6435725" y="3860800"/>
          <a:ext cx="2387600" cy="194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4" imgW="2387600" imgH="1943100" progId="Equation.DSMT4">
                  <p:embed/>
                </p:oleObj>
              </mc:Choice>
              <mc:Fallback>
                <p:oleObj name="" r:id="rId4" imgW="2387600" imgH="1943100" progId="Equation.DSMT4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435725" y="3860800"/>
                        <a:ext cx="2387600" cy="1943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2262" name="内容占位符 692261"/>
          <p:cNvGraphicFramePr/>
          <p:nvPr>
            <p:ph idx="1"/>
          </p:nvPr>
        </p:nvGraphicFramePr>
        <p:xfrm>
          <a:off x="2268538" y="1125538"/>
          <a:ext cx="4648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6" imgW="4646295" imgH="393700" progId="Equation.DSMT4">
                  <p:embed/>
                </p:oleObj>
              </mc:Choice>
              <mc:Fallback>
                <p:oleObj name="" r:id="rId6" imgW="4646295" imgH="393700" progId="Equation.DSMT4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268538" y="1125538"/>
                        <a:ext cx="4648200" cy="3937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92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92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92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92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92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92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7" dur="500"/>
                                        <p:tgtEl>
                                          <p:spTgt spid="692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692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7" dur="500"/>
                                        <p:tgtEl>
                                          <p:spTgt spid="692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69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57" dur="500"/>
                                        <p:tgtEl>
                                          <p:spTgt spid="692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2246" grpId="0" animBg="1"/>
      <p:bldP spid="692247" grpId="0" animBg="1"/>
      <p:bldP spid="692250" grpId="0" animBg="1"/>
      <p:bldP spid="69225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3251" name="直角三角形 693250"/>
          <p:cNvSpPr/>
          <p:nvPr/>
        </p:nvSpPr>
        <p:spPr>
          <a:xfrm>
            <a:off x="2590800" y="3838575"/>
            <a:ext cx="1828800" cy="2663825"/>
          </a:xfrm>
          <a:prstGeom prst="rtTriangle">
            <a:avLst/>
          </a:prstGeom>
          <a:solidFill>
            <a:srgbClr val="008000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grpSp>
        <p:nvGrpSpPr>
          <p:cNvPr id="693252" name="组合 693251"/>
          <p:cNvGrpSpPr/>
          <p:nvPr/>
        </p:nvGrpSpPr>
        <p:grpSpPr>
          <a:xfrm>
            <a:off x="1066800" y="2466975"/>
            <a:ext cx="1066800" cy="4044950"/>
            <a:chOff x="336" y="672"/>
            <a:chExt cx="336" cy="1267"/>
          </a:xfrm>
        </p:grpSpPr>
        <p:sp>
          <p:nvSpPr>
            <p:cNvPr id="693253" name="直角三角形 693252"/>
            <p:cNvSpPr/>
            <p:nvPr/>
          </p:nvSpPr>
          <p:spPr>
            <a:xfrm>
              <a:off x="336" y="672"/>
              <a:ext cx="336" cy="288"/>
            </a:xfrm>
            <a:prstGeom prst="rtTriangle">
              <a:avLst/>
            </a:prstGeom>
            <a:solidFill>
              <a:srgbClr val="0099FF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93254" name="矩形 693253"/>
            <p:cNvSpPr/>
            <p:nvPr/>
          </p:nvSpPr>
          <p:spPr>
            <a:xfrm>
              <a:off x="336" y="960"/>
              <a:ext cx="336" cy="979"/>
            </a:xfrm>
            <a:prstGeom prst="rect">
              <a:avLst/>
            </a:prstGeom>
            <a:solidFill>
              <a:srgbClr val="0099FF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693255" name="直接连接符 693254"/>
          <p:cNvSpPr/>
          <p:nvPr/>
        </p:nvSpPr>
        <p:spPr>
          <a:xfrm flipV="1">
            <a:off x="5121275" y="6334125"/>
            <a:ext cx="0" cy="1714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93256" name="直接连接符 693255"/>
          <p:cNvSpPr/>
          <p:nvPr/>
        </p:nvSpPr>
        <p:spPr>
          <a:xfrm>
            <a:off x="730250" y="2219325"/>
            <a:ext cx="5518150" cy="451485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93257" name="文本框 693256"/>
          <p:cNvSpPr txBox="1"/>
          <p:nvPr/>
        </p:nvSpPr>
        <p:spPr>
          <a:xfrm>
            <a:off x="457200" y="2314575"/>
            <a:ext cx="914400" cy="577850"/>
          </a:xfrm>
          <a:prstGeom prst="rect">
            <a:avLst/>
          </a:prstGeom>
          <a:noFill/>
          <a:ln w="9525">
            <a:noFill/>
          </a:ln>
        </p:spPr>
        <p:txBody>
          <a:bodyPr lIns="213348" tIns="106674" rIns="213348" bIns="106674">
            <a:spAutoFit/>
          </a:bodyPr>
          <a:p>
            <a:pPr defTabSz="2133600">
              <a:spcBef>
                <a:spcPct val="50000"/>
              </a:spcBef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10</a:t>
            </a:r>
            <a:endParaRPr lang="en-US" altLang="zh-CN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3258" name="直接连接符 693257"/>
          <p:cNvSpPr/>
          <p:nvPr/>
        </p:nvSpPr>
        <p:spPr>
          <a:xfrm>
            <a:off x="1066800" y="2466975"/>
            <a:ext cx="18097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93259" name="直接连接符 693258"/>
          <p:cNvSpPr/>
          <p:nvPr/>
        </p:nvSpPr>
        <p:spPr>
          <a:xfrm flipH="1" flipV="1">
            <a:off x="1042988" y="1125538"/>
            <a:ext cx="23812" cy="5494337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93260" name="直接连接符 693259"/>
          <p:cNvSpPr/>
          <p:nvPr/>
        </p:nvSpPr>
        <p:spPr>
          <a:xfrm>
            <a:off x="549275" y="6505575"/>
            <a:ext cx="804545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93261" name="文本框 693260"/>
          <p:cNvSpPr txBox="1"/>
          <p:nvPr/>
        </p:nvSpPr>
        <p:spPr>
          <a:xfrm>
            <a:off x="8316913" y="6308725"/>
            <a:ext cx="762000" cy="577850"/>
          </a:xfrm>
          <a:prstGeom prst="rect">
            <a:avLst/>
          </a:prstGeom>
          <a:noFill/>
          <a:ln w="9525">
            <a:noFill/>
          </a:ln>
        </p:spPr>
        <p:txBody>
          <a:bodyPr lIns="213348" tIns="106674" rIns="213348" bIns="106674">
            <a:spAutoFit/>
          </a:bodyPr>
          <a:p>
            <a:pPr defTabSz="2133600"/>
            <a:r>
              <a:rPr lang="en-US" altLang="zh-CN" sz="2400" b="1" i="1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baseline="-2500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endParaRPr lang="en-US" altLang="zh-CN" sz="2400" b="1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3262" name="文本框 693261"/>
          <p:cNvSpPr txBox="1"/>
          <p:nvPr/>
        </p:nvSpPr>
        <p:spPr>
          <a:xfrm>
            <a:off x="468313" y="906463"/>
            <a:ext cx="914400" cy="577850"/>
          </a:xfrm>
          <a:prstGeom prst="rect">
            <a:avLst/>
          </a:prstGeom>
          <a:noFill/>
          <a:ln w="9525">
            <a:noFill/>
          </a:ln>
        </p:spPr>
        <p:txBody>
          <a:bodyPr lIns="213348" tIns="106674" rIns="213348" bIns="106674">
            <a:spAutoFit/>
          </a:bodyPr>
          <a:p>
            <a:pPr defTabSz="2133600"/>
            <a:r>
              <a:rPr lang="en-US" altLang="zh-CN" sz="2400" b="1" i="1">
                <a:solidFill>
                  <a:schemeClr val="bg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baseline="-2500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endParaRPr lang="en-US" altLang="zh-CN" sz="2400" b="1" i="1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3263" name="文本框 693262"/>
          <p:cNvSpPr txBox="1"/>
          <p:nvPr/>
        </p:nvSpPr>
        <p:spPr>
          <a:xfrm>
            <a:off x="609600" y="6327775"/>
            <a:ext cx="577850" cy="577850"/>
          </a:xfrm>
          <a:prstGeom prst="rect">
            <a:avLst/>
          </a:prstGeom>
          <a:noFill/>
          <a:ln w="9525">
            <a:noFill/>
          </a:ln>
        </p:spPr>
        <p:txBody>
          <a:bodyPr wrap="none" lIns="213348" tIns="106674" rIns="213348" bIns="106674" anchor="t" anchorCtr="0">
            <a:spAutoFit/>
          </a:bodyPr>
          <a:p>
            <a:pPr defTabSz="2133600"/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</a:rPr>
              <a:t>o</a:t>
            </a:r>
            <a:endParaRPr lang="en-US" altLang="zh-CN" sz="2400" b="1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3264" name="文本框 693263"/>
          <p:cNvSpPr txBox="1"/>
          <p:nvPr/>
        </p:nvSpPr>
        <p:spPr>
          <a:xfrm>
            <a:off x="914400" y="2009775"/>
            <a:ext cx="609600" cy="577850"/>
          </a:xfrm>
          <a:prstGeom prst="rect">
            <a:avLst/>
          </a:prstGeom>
          <a:noFill/>
          <a:ln w="9525">
            <a:noFill/>
          </a:ln>
        </p:spPr>
        <p:txBody>
          <a:bodyPr lIns="213348" tIns="106674" rIns="213348" bIns="106674">
            <a:spAutoFit/>
          </a:bodyPr>
          <a:p>
            <a:pPr defTabSz="2133600"/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endParaRPr lang="en-US" altLang="zh-CN" sz="2400" b="1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3265" name="文本框 693264"/>
          <p:cNvSpPr txBox="1"/>
          <p:nvPr/>
        </p:nvSpPr>
        <p:spPr>
          <a:xfrm>
            <a:off x="2438400" y="3279775"/>
            <a:ext cx="628650" cy="577850"/>
          </a:xfrm>
          <a:prstGeom prst="rect">
            <a:avLst/>
          </a:prstGeom>
          <a:noFill/>
          <a:ln w="9525">
            <a:noFill/>
          </a:ln>
        </p:spPr>
        <p:txBody>
          <a:bodyPr wrap="none" lIns="213348" tIns="106674" rIns="213348" bIns="106674" anchor="t" anchorCtr="0">
            <a:spAutoFit/>
          </a:bodyPr>
          <a:p>
            <a:pPr defTabSz="2133600"/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endParaRPr lang="en-US" altLang="zh-CN" sz="2400" b="1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3266" name="文本框 693265"/>
          <p:cNvSpPr txBox="1"/>
          <p:nvPr/>
        </p:nvSpPr>
        <p:spPr>
          <a:xfrm>
            <a:off x="4168775" y="5953125"/>
            <a:ext cx="628650" cy="577850"/>
          </a:xfrm>
          <a:prstGeom prst="rect">
            <a:avLst/>
          </a:prstGeom>
          <a:noFill/>
          <a:ln w="9525">
            <a:noFill/>
          </a:ln>
        </p:spPr>
        <p:txBody>
          <a:bodyPr wrap="none" lIns="213348" tIns="106674" rIns="213348" bIns="106674" anchor="t" anchorCtr="0">
            <a:spAutoFit/>
          </a:bodyPr>
          <a:p>
            <a:pPr defTabSz="2133600"/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endParaRPr lang="en-US" altLang="zh-CN" sz="2400" b="1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3267" name="直接连接符 693266"/>
          <p:cNvSpPr/>
          <p:nvPr/>
        </p:nvSpPr>
        <p:spPr>
          <a:xfrm>
            <a:off x="2133600" y="2314575"/>
            <a:ext cx="0" cy="44196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93268" name="文本框 693267"/>
          <p:cNvSpPr txBox="1"/>
          <p:nvPr/>
        </p:nvSpPr>
        <p:spPr>
          <a:xfrm>
            <a:off x="1371600" y="4600575"/>
            <a:ext cx="365125" cy="5588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91440" rIns="0" bIns="91440">
            <a:spAutoFit/>
          </a:bodyPr>
          <a:p>
            <a:pPr defTabSz="1828800"/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3269" name="文本框 693268"/>
          <p:cNvSpPr txBox="1"/>
          <p:nvPr/>
        </p:nvSpPr>
        <p:spPr>
          <a:xfrm>
            <a:off x="2773363" y="5235575"/>
            <a:ext cx="433387" cy="49847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91440" rIns="0" bIns="91440">
            <a:spAutoFit/>
          </a:bodyPr>
          <a:p>
            <a:pPr defTabSz="1828800" eaLnBrk="0" hangingPunct="0"/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</a:rPr>
              <a:t>21</a:t>
            </a:r>
            <a:endParaRPr lang="en-US" altLang="zh-CN" sz="20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3270" name="文本框 693269"/>
          <p:cNvSpPr txBox="1"/>
          <p:nvPr/>
        </p:nvSpPr>
        <p:spPr>
          <a:xfrm>
            <a:off x="1882775" y="6453188"/>
            <a:ext cx="457200" cy="365125"/>
          </a:xfrm>
          <a:prstGeom prst="rect">
            <a:avLst/>
          </a:prstGeom>
          <a:noFill/>
          <a:ln w="9525">
            <a:noFill/>
          </a:ln>
        </p:spPr>
        <p:txBody>
          <a:bodyPr lIns="36000" tIns="0" rIns="36000" bIns="0">
            <a:spAutoFit/>
          </a:bodyPr>
          <a:p>
            <a:pPr defTabSz="1828800"/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endParaRPr lang="en-US" altLang="zh-CN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3271" name="文本框 693270"/>
          <p:cNvSpPr txBox="1"/>
          <p:nvPr/>
        </p:nvSpPr>
        <p:spPr>
          <a:xfrm>
            <a:off x="2590800" y="6459538"/>
            <a:ext cx="457200" cy="365125"/>
          </a:xfrm>
          <a:prstGeom prst="rect">
            <a:avLst/>
          </a:prstGeom>
          <a:noFill/>
          <a:ln w="9525">
            <a:noFill/>
          </a:ln>
        </p:spPr>
        <p:txBody>
          <a:bodyPr lIns="36000" tIns="0" rIns="36000" bIns="0">
            <a:spAutoFit/>
          </a:bodyPr>
          <a:p>
            <a:pPr defTabSz="1828800" eaLnBrk="0" hangingPunct="0"/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endParaRPr lang="en-US" altLang="zh-CN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3272" name="线形标注 2 693271"/>
          <p:cNvSpPr/>
          <p:nvPr/>
        </p:nvSpPr>
        <p:spPr>
          <a:xfrm>
            <a:off x="3962400" y="3914775"/>
            <a:ext cx="3201988" cy="457200"/>
          </a:xfrm>
          <a:prstGeom prst="borderCallout2">
            <a:avLst>
              <a:gd name="adj1" fmla="val 25000"/>
              <a:gd name="adj2" fmla="val -2380"/>
              <a:gd name="adj3" fmla="val 25000"/>
              <a:gd name="adj4" fmla="val -22407"/>
              <a:gd name="adj5" fmla="val 49306"/>
              <a:gd name="adj6" fmla="val -37134"/>
            </a:avLst>
          </a:prstGeom>
          <a:solidFill>
            <a:srgbClr val="FFFFCC"/>
          </a:solidFill>
          <a:ln w="9525" cap="flat" cmpd="sng">
            <a:solidFill>
              <a:srgbClr val="FF3399"/>
            </a:solidFill>
            <a:prstDash val="solid"/>
            <a:miter/>
            <a:headEnd type="none" w="med" len="med"/>
            <a:tailEnd type="triangle" w="sm" len="med"/>
          </a:ln>
        </p:spPr>
        <p:txBody>
          <a:bodyPr lIns="72000" tIns="0" rIns="0" bIns="0"/>
          <a:p>
            <a:pPr defTabSz="1828800" eaLnBrk="0" hangingPunct="0"/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</a:rPr>
              <a:t>21:</a:t>
            </a:r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</a:rPr>
              <a:t>=(4.33,6),z</a:t>
            </a:r>
            <a:r>
              <a:rPr lang="en-US" altLang="zh-CN" sz="2200" b="1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</a:rPr>
              <a:t>=35.33</a:t>
            </a:r>
            <a:endParaRPr lang="en-US" altLang="zh-CN" sz="22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3275" name="直接连接符 693274"/>
          <p:cNvSpPr/>
          <p:nvPr/>
        </p:nvSpPr>
        <p:spPr>
          <a:xfrm>
            <a:off x="914400" y="4143375"/>
            <a:ext cx="25908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93276" name="文本框 693275"/>
          <p:cNvSpPr txBox="1"/>
          <p:nvPr/>
        </p:nvSpPr>
        <p:spPr>
          <a:xfrm>
            <a:off x="457200" y="3990975"/>
            <a:ext cx="520700" cy="549275"/>
          </a:xfrm>
          <a:prstGeom prst="rect">
            <a:avLst/>
          </a:prstGeom>
          <a:noFill/>
          <a:ln w="9525">
            <a:noFill/>
          </a:ln>
        </p:spPr>
        <p:txBody>
          <a:bodyPr lIns="182880" tIns="91440" rIns="182880" bIns="91440">
            <a:spAutoFit/>
          </a:bodyPr>
          <a:p>
            <a:pPr defTabSz="1828800">
              <a:spcBef>
                <a:spcPct val="50000"/>
              </a:spcBef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endParaRPr lang="en-US" altLang="zh-CN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3277" name="直角三角形 693276"/>
          <p:cNvSpPr/>
          <p:nvPr/>
        </p:nvSpPr>
        <p:spPr>
          <a:xfrm>
            <a:off x="2590800" y="3838575"/>
            <a:ext cx="304800" cy="304800"/>
          </a:xfrm>
          <a:prstGeom prst="rtTriangle">
            <a:avLst/>
          </a:prstGeom>
          <a:solidFill>
            <a:schemeClr val="bg1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693278" name="直接连接符 693277"/>
          <p:cNvSpPr/>
          <p:nvPr/>
        </p:nvSpPr>
        <p:spPr>
          <a:xfrm>
            <a:off x="2590800" y="3228975"/>
            <a:ext cx="0" cy="35052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93279" name="直接连接符 693278"/>
          <p:cNvSpPr/>
          <p:nvPr/>
        </p:nvSpPr>
        <p:spPr>
          <a:xfrm>
            <a:off x="914400" y="1400175"/>
            <a:ext cx="3657600" cy="53340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693280" name="组合 693279"/>
          <p:cNvGrpSpPr/>
          <p:nvPr/>
        </p:nvGrpSpPr>
        <p:grpSpPr>
          <a:xfrm>
            <a:off x="2124075" y="2205038"/>
            <a:ext cx="3505200" cy="774700"/>
            <a:chOff x="528" y="1174"/>
            <a:chExt cx="2877" cy="986"/>
          </a:xfrm>
        </p:grpSpPr>
        <p:sp>
          <p:nvSpPr>
            <p:cNvPr id="693281" name="直接连接符 693280"/>
            <p:cNvSpPr/>
            <p:nvPr/>
          </p:nvSpPr>
          <p:spPr>
            <a:xfrm>
              <a:off x="528" y="2160"/>
              <a:ext cx="2208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93282" name="直接连接符 693281"/>
            <p:cNvSpPr/>
            <p:nvPr/>
          </p:nvSpPr>
          <p:spPr>
            <a:xfrm flipV="1">
              <a:off x="2304" y="1920"/>
              <a:ext cx="0" cy="24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693283" name="对象 693282"/>
            <p:cNvGraphicFramePr/>
            <p:nvPr/>
          </p:nvGraphicFramePr>
          <p:xfrm>
            <a:off x="1538" y="1174"/>
            <a:ext cx="1867" cy="4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5" name="" r:id="rId1" imgW="1726565" imgH="381000" progId="Equation.DSMT4">
                    <p:embed/>
                  </p:oleObj>
                </mc:Choice>
                <mc:Fallback>
                  <p:oleObj name="" r:id="rId1" imgW="1726565" imgH="381000" progId="Equation.DSMT4">
                    <p:embed/>
                    <p:pic>
                      <p:nvPicPr>
                        <p:cNvPr id="0" name="图片 309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538" y="1174"/>
                          <a:ext cx="1867" cy="423"/>
                        </a:xfrm>
                        <a:prstGeom prst="rect">
                          <a:avLst/>
                        </a:prstGeom>
                        <a:solidFill>
                          <a:srgbClr val="FFFF99"/>
                        </a:solidFill>
                        <a:ln w="19050" cap="flat" cmpd="sng">
                          <a:solidFill>
                            <a:srgbClr val="FF3300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93284" name="直接连接符 693283"/>
            <p:cNvSpPr/>
            <p:nvPr/>
          </p:nvSpPr>
          <p:spPr>
            <a:xfrm flipH="1">
              <a:off x="1920" y="1536"/>
              <a:ext cx="144" cy="576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</p:grpSp>
      <p:pic>
        <p:nvPicPr>
          <p:cNvPr id="693286" name="图片 693285" descr="BD14868_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350" y="4067175"/>
            <a:ext cx="215900" cy="215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93288" name="标题 693287"/>
          <p:cNvSpPr>
            <a:spLocks noGrp="1"/>
          </p:cNvSpPr>
          <p:nvPr>
            <p:ph type="title"/>
          </p:nvPr>
        </p:nvSpPr>
        <p:spPr>
          <a:xfrm>
            <a:off x="468313" y="288608"/>
            <a:ext cx="8229600" cy="645160"/>
          </a:xfrm>
        </p:spPr>
        <p:txBody>
          <a:bodyPr anchor="ctr" anchorCtr="0">
            <a:spAutoFit/>
          </a:bodyPr>
          <a:p>
            <a:r>
              <a:rPr lang="en-US" altLang="zh-CN"/>
              <a:t>  </a:t>
            </a:r>
            <a:r>
              <a:rPr lang="zh-CN" altLang="en-US" dirty="0"/>
              <a:t>分支定界解法</a:t>
            </a:r>
            <a:endParaRPr lang="zh-CN" altLang="en-US" dirty="0"/>
          </a:p>
        </p:txBody>
      </p:sp>
      <p:graphicFrame>
        <p:nvGraphicFramePr>
          <p:cNvPr id="693289" name="内容占位符 693288"/>
          <p:cNvGraphicFramePr/>
          <p:nvPr>
            <p:ph idx="1"/>
          </p:nvPr>
        </p:nvGraphicFramePr>
        <p:xfrm>
          <a:off x="6156325" y="4437063"/>
          <a:ext cx="2527300" cy="194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4" imgW="2527300" imgH="1943100" progId="Equation.DSMT4">
                  <p:embed/>
                </p:oleObj>
              </mc:Choice>
              <mc:Fallback>
                <p:oleObj name="" r:id="rId4" imgW="2527300" imgH="1943100" progId="Equation.DSMT4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56325" y="4437063"/>
                        <a:ext cx="2527300" cy="19431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3293" name="对象 693292"/>
          <p:cNvGraphicFramePr/>
          <p:nvPr/>
        </p:nvGraphicFramePr>
        <p:xfrm>
          <a:off x="6156325" y="1700213"/>
          <a:ext cx="2514600" cy="194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6" imgW="2514600" imgH="1943100" progId="Equation.DSMT4">
                  <p:embed/>
                </p:oleObj>
              </mc:Choice>
              <mc:Fallback>
                <p:oleObj name="" r:id="rId6" imgW="2514600" imgH="1943100" progId="Equation.DSMT4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156325" y="1700213"/>
                        <a:ext cx="2514600" cy="1943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3296" name="对象 693295"/>
          <p:cNvGraphicFramePr/>
          <p:nvPr/>
        </p:nvGraphicFramePr>
        <p:xfrm>
          <a:off x="1258888" y="1052513"/>
          <a:ext cx="7620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8" imgW="7616825" imgH="393700" progId="Equation.DSMT4">
                  <p:embed/>
                </p:oleObj>
              </mc:Choice>
              <mc:Fallback>
                <p:oleObj name="" r:id="rId8" imgW="7616825" imgH="393700" progId="Equation.DSMT4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258888" y="1052513"/>
                        <a:ext cx="76200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93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93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93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932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3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93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693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93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693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3269" grpId="0" animBg="1"/>
      <p:bldP spid="69327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94275" name="组合 694274"/>
          <p:cNvGrpSpPr/>
          <p:nvPr/>
        </p:nvGrpSpPr>
        <p:grpSpPr>
          <a:xfrm>
            <a:off x="1157288" y="2425700"/>
            <a:ext cx="1066800" cy="4044950"/>
            <a:chOff x="336" y="672"/>
            <a:chExt cx="336" cy="1267"/>
          </a:xfrm>
        </p:grpSpPr>
        <p:sp>
          <p:nvSpPr>
            <p:cNvPr id="694276" name="直角三角形 694275"/>
            <p:cNvSpPr/>
            <p:nvPr/>
          </p:nvSpPr>
          <p:spPr>
            <a:xfrm>
              <a:off x="336" y="672"/>
              <a:ext cx="336" cy="288"/>
            </a:xfrm>
            <a:prstGeom prst="rtTriangle">
              <a:avLst/>
            </a:prstGeom>
            <a:solidFill>
              <a:srgbClr val="0099FF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94277" name="矩形 694276"/>
            <p:cNvSpPr/>
            <p:nvPr/>
          </p:nvSpPr>
          <p:spPr>
            <a:xfrm>
              <a:off x="336" y="960"/>
              <a:ext cx="336" cy="979"/>
            </a:xfrm>
            <a:prstGeom prst="rect">
              <a:avLst/>
            </a:prstGeom>
            <a:solidFill>
              <a:srgbClr val="0099FF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694278" name="直接连接符 694277"/>
          <p:cNvSpPr/>
          <p:nvPr/>
        </p:nvSpPr>
        <p:spPr>
          <a:xfrm flipV="1">
            <a:off x="5211763" y="6292850"/>
            <a:ext cx="0" cy="1714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94279" name="直接连接符 694278"/>
          <p:cNvSpPr/>
          <p:nvPr/>
        </p:nvSpPr>
        <p:spPr>
          <a:xfrm>
            <a:off x="820738" y="2178050"/>
            <a:ext cx="5518150" cy="451485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94280" name="文本框 694279"/>
          <p:cNvSpPr txBox="1"/>
          <p:nvPr/>
        </p:nvSpPr>
        <p:spPr>
          <a:xfrm>
            <a:off x="547688" y="2273300"/>
            <a:ext cx="914400" cy="577850"/>
          </a:xfrm>
          <a:prstGeom prst="rect">
            <a:avLst/>
          </a:prstGeom>
          <a:noFill/>
          <a:ln w="9525">
            <a:noFill/>
          </a:ln>
        </p:spPr>
        <p:txBody>
          <a:bodyPr lIns="213348" tIns="106674" rIns="213348" bIns="106674">
            <a:spAutoFit/>
          </a:bodyPr>
          <a:p>
            <a:pPr defTabSz="2133600">
              <a:spcBef>
                <a:spcPct val="50000"/>
              </a:spcBef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10</a:t>
            </a:r>
            <a:endParaRPr lang="en-US" altLang="zh-CN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4281" name="直接连接符 694280"/>
          <p:cNvSpPr/>
          <p:nvPr/>
        </p:nvSpPr>
        <p:spPr>
          <a:xfrm>
            <a:off x="1157288" y="2425700"/>
            <a:ext cx="18097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94282" name="直接连接符 694281"/>
          <p:cNvSpPr/>
          <p:nvPr/>
        </p:nvSpPr>
        <p:spPr>
          <a:xfrm flipH="1" flipV="1">
            <a:off x="1162050" y="1100138"/>
            <a:ext cx="25400" cy="5478462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94283" name="直接连接符 694282"/>
          <p:cNvSpPr/>
          <p:nvPr/>
        </p:nvSpPr>
        <p:spPr>
          <a:xfrm flipV="1">
            <a:off x="639763" y="6453188"/>
            <a:ext cx="6669087" cy="11112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94284" name="文本框 694283"/>
          <p:cNvSpPr txBox="1"/>
          <p:nvPr/>
        </p:nvSpPr>
        <p:spPr>
          <a:xfrm>
            <a:off x="6804025" y="6237288"/>
            <a:ext cx="762000" cy="641350"/>
          </a:xfrm>
          <a:prstGeom prst="rect">
            <a:avLst/>
          </a:prstGeom>
          <a:noFill/>
          <a:ln w="9525">
            <a:noFill/>
          </a:ln>
        </p:spPr>
        <p:txBody>
          <a:bodyPr lIns="213348" tIns="106674" rIns="213348" bIns="106674">
            <a:spAutoFit/>
          </a:bodyPr>
          <a:p>
            <a:pPr defTabSz="2133600"/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4285" name="文本框 694284"/>
          <p:cNvSpPr txBox="1"/>
          <p:nvPr/>
        </p:nvSpPr>
        <p:spPr>
          <a:xfrm>
            <a:off x="561975" y="842963"/>
            <a:ext cx="914400" cy="641350"/>
          </a:xfrm>
          <a:prstGeom prst="rect">
            <a:avLst/>
          </a:prstGeom>
          <a:noFill/>
          <a:ln w="9525">
            <a:noFill/>
          </a:ln>
        </p:spPr>
        <p:txBody>
          <a:bodyPr lIns="213348" tIns="106674" rIns="213348" bIns="106674">
            <a:spAutoFit/>
          </a:bodyPr>
          <a:p>
            <a:pPr defTabSz="2133600"/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en-US" altLang="zh-CN" sz="2800" b="1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4286" name="文本框 694285"/>
          <p:cNvSpPr txBox="1"/>
          <p:nvPr/>
        </p:nvSpPr>
        <p:spPr>
          <a:xfrm>
            <a:off x="700088" y="6286500"/>
            <a:ext cx="577850" cy="577850"/>
          </a:xfrm>
          <a:prstGeom prst="rect">
            <a:avLst/>
          </a:prstGeom>
          <a:noFill/>
          <a:ln w="9525">
            <a:noFill/>
          </a:ln>
        </p:spPr>
        <p:txBody>
          <a:bodyPr wrap="none" lIns="213348" tIns="106674" rIns="213348" bIns="106674" anchor="t" anchorCtr="0">
            <a:spAutoFit/>
          </a:bodyPr>
          <a:p>
            <a:pPr defTabSz="2133600"/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</a:rPr>
              <a:t>o</a:t>
            </a:r>
            <a:endParaRPr lang="en-US" altLang="zh-CN" sz="2400" b="1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4287" name="文本框 694286"/>
          <p:cNvSpPr txBox="1"/>
          <p:nvPr/>
        </p:nvSpPr>
        <p:spPr>
          <a:xfrm>
            <a:off x="1004888" y="1968500"/>
            <a:ext cx="609600" cy="577850"/>
          </a:xfrm>
          <a:prstGeom prst="rect">
            <a:avLst/>
          </a:prstGeom>
          <a:noFill/>
          <a:ln w="9525">
            <a:noFill/>
          </a:ln>
        </p:spPr>
        <p:txBody>
          <a:bodyPr lIns="213348" tIns="106674" rIns="213348" bIns="106674">
            <a:spAutoFit/>
          </a:bodyPr>
          <a:p>
            <a:pPr defTabSz="2133600"/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endParaRPr lang="en-US" altLang="zh-CN" sz="2400" b="1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4288" name="文本框 694287"/>
          <p:cNvSpPr txBox="1"/>
          <p:nvPr/>
        </p:nvSpPr>
        <p:spPr>
          <a:xfrm>
            <a:off x="4259263" y="5911850"/>
            <a:ext cx="628650" cy="577850"/>
          </a:xfrm>
          <a:prstGeom prst="rect">
            <a:avLst/>
          </a:prstGeom>
          <a:noFill/>
          <a:ln w="9525">
            <a:noFill/>
          </a:ln>
        </p:spPr>
        <p:txBody>
          <a:bodyPr wrap="none" lIns="213348" tIns="106674" rIns="213348" bIns="106674" anchor="t" anchorCtr="0">
            <a:spAutoFit/>
          </a:bodyPr>
          <a:p>
            <a:pPr defTabSz="2133600"/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endParaRPr lang="en-US" altLang="zh-CN" sz="2400" b="1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4289" name="直接连接符 694288"/>
          <p:cNvSpPr/>
          <p:nvPr/>
        </p:nvSpPr>
        <p:spPr>
          <a:xfrm>
            <a:off x="2224088" y="2273300"/>
            <a:ext cx="0" cy="44196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94290" name="文本框 694289"/>
          <p:cNvSpPr txBox="1"/>
          <p:nvPr/>
        </p:nvSpPr>
        <p:spPr>
          <a:xfrm>
            <a:off x="1462088" y="4559300"/>
            <a:ext cx="365125" cy="5588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91440" rIns="0" bIns="91440">
            <a:spAutoFit/>
          </a:bodyPr>
          <a:p>
            <a:pPr defTabSz="1828800"/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4291" name="文本框 694290"/>
          <p:cNvSpPr txBox="1"/>
          <p:nvPr/>
        </p:nvSpPr>
        <p:spPr>
          <a:xfrm>
            <a:off x="1979613" y="6448425"/>
            <a:ext cx="457200" cy="365125"/>
          </a:xfrm>
          <a:prstGeom prst="rect">
            <a:avLst/>
          </a:prstGeom>
          <a:noFill/>
          <a:ln w="9525">
            <a:noFill/>
          </a:ln>
        </p:spPr>
        <p:txBody>
          <a:bodyPr lIns="36000" tIns="0" rIns="36000" bIns="0">
            <a:spAutoFit/>
          </a:bodyPr>
          <a:p>
            <a:pPr defTabSz="1828800"/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endParaRPr lang="en-US" altLang="zh-CN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4292" name="文本框 694291"/>
          <p:cNvSpPr txBox="1"/>
          <p:nvPr/>
        </p:nvSpPr>
        <p:spPr>
          <a:xfrm>
            <a:off x="2690813" y="6432550"/>
            <a:ext cx="457200" cy="365125"/>
          </a:xfrm>
          <a:prstGeom prst="rect">
            <a:avLst/>
          </a:prstGeom>
          <a:noFill/>
          <a:ln w="9525">
            <a:noFill/>
          </a:ln>
        </p:spPr>
        <p:txBody>
          <a:bodyPr lIns="36000" tIns="0" rIns="36000" bIns="0">
            <a:spAutoFit/>
          </a:bodyPr>
          <a:p>
            <a:pPr defTabSz="1828800" eaLnBrk="0" hangingPunct="0"/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endParaRPr lang="en-US" altLang="zh-CN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4295" name="直接连接符 694294"/>
          <p:cNvSpPr/>
          <p:nvPr/>
        </p:nvSpPr>
        <p:spPr>
          <a:xfrm>
            <a:off x="1004888" y="4102100"/>
            <a:ext cx="25908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94296" name="文本框 694295"/>
          <p:cNvSpPr txBox="1"/>
          <p:nvPr/>
        </p:nvSpPr>
        <p:spPr>
          <a:xfrm>
            <a:off x="547688" y="3949700"/>
            <a:ext cx="520700" cy="549275"/>
          </a:xfrm>
          <a:prstGeom prst="rect">
            <a:avLst/>
          </a:prstGeom>
          <a:noFill/>
          <a:ln w="9525">
            <a:noFill/>
          </a:ln>
        </p:spPr>
        <p:txBody>
          <a:bodyPr lIns="182880" tIns="91440" rIns="182880" bIns="91440">
            <a:spAutoFit/>
          </a:bodyPr>
          <a:p>
            <a:pPr defTabSz="1828800">
              <a:spcBef>
                <a:spcPct val="50000"/>
              </a:spcBef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endParaRPr lang="en-US" altLang="zh-CN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4297" name="直角三角形 694296"/>
          <p:cNvSpPr/>
          <p:nvPr/>
        </p:nvSpPr>
        <p:spPr>
          <a:xfrm>
            <a:off x="2681288" y="3797300"/>
            <a:ext cx="304800" cy="304800"/>
          </a:xfrm>
          <a:prstGeom prst="rtTriangle">
            <a:avLst/>
          </a:prstGeom>
          <a:solidFill>
            <a:schemeClr val="bg1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694298" name="直接连接符 694297"/>
          <p:cNvSpPr/>
          <p:nvPr/>
        </p:nvSpPr>
        <p:spPr>
          <a:xfrm>
            <a:off x="2681288" y="3187700"/>
            <a:ext cx="0" cy="35052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94299" name="直接连接符 694298"/>
          <p:cNvSpPr/>
          <p:nvPr/>
        </p:nvSpPr>
        <p:spPr>
          <a:xfrm>
            <a:off x="1004888" y="1358900"/>
            <a:ext cx="3657600" cy="53340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94301" name="直接连接符 694300"/>
          <p:cNvSpPr/>
          <p:nvPr/>
        </p:nvSpPr>
        <p:spPr>
          <a:xfrm>
            <a:off x="2681288" y="4102100"/>
            <a:ext cx="0" cy="2362200"/>
          </a:xfrm>
          <a:prstGeom prst="line">
            <a:avLst/>
          </a:prstGeom>
          <a:ln w="38100" cap="flat" cmpd="sng">
            <a:solidFill>
              <a:srgbClr val="FF3399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94302" name="线形标注 2 694301"/>
          <p:cNvSpPr/>
          <p:nvPr/>
        </p:nvSpPr>
        <p:spPr>
          <a:xfrm>
            <a:off x="3290888" y="2306638"/>
            <a:ext cx="2433637" cy="762000"/>
          </a:xfrm>
          <a:prstGeom prst="borderCallout2">
            <a:avLst>
              <a:gd name="adj1" fmla="val 15000"/>
              <a:gd name="adj2" fmla="val -3130"/>
              <a:gd name="adj3" fmla="val 15000"/>
              <a:gd name="adj4" fmla="val -9718"/>
              <a:gd name="adj5" fmla="val 230625"/>
              <a:gd name="adj6" fmla="val -23352"/>
            </a:avLst>
          </a:prstGeom>
          <a:solidFill>
            <a:srgbClr val="FFFFCC"/>
          </a:solidFill>
          <a:ln w="9525" cap="flat" cmpd="sng">
            <a:solidFill>
              <a:srgbClr val="FF3399"/>
            </a:solidFill>
            <a:prstDash val="solid"/>
            <a:miter/>
            <a:headEnd type="none" w="med" len="med"/>
            <a:tailEnd type="triangle" w="sm" len="med"/>
          </a:ln>
        </p:spPr>
        <p:txBody>
          <a:bodyPr lIns="72000" tIns="0" rIns="0" bIns="0"/>
          <a:p>
            <a:pPr defTabSz="1828800" eaLnBrk="0" hangingPunct="0"/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</a:rPr>
              <a:t>B211</a:t>
            </a: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</a:rPr>
              <a:t>:</a:t>
            </a:r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</a:rPr>
              <a:t>=(4,6),</a:t>
            </a:r>
            <a:endParaRPr lang="en-US" altLang="zh-CN" sz="22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defTabSz="1828800" eaLnBrk="0" hangingPunct="0"/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200" b="1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</a:rPr>
              <a:t>=34</a:t>
            </a:r>
            <a:endParaRPr lang="en-US" altLang="zh-CN" sz="22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4303" name="直接连接符 694302"/>
          <p:cNvSpPr/>
          <p:nvPr/>
        </p:nvSpPr>
        <p:spPr>
          <a:xfrm flipV="1">
            <a:off x="3138488" y="3644900"/>
            <a:ext cx="0" cy="2895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94304" name="直角三角形 694303"/>
          <p:cNvSpPr/>
          <p:nvPr/>
        </p:nvSpPr>
        <p:spPr>
          <a:xfrm>
            <a:off x="3138488" y="4502150"/>
            <a:ext cx="1371600" cy="1965325"/>
          </a:xfrm>
          <a:prstGeom prst="rtTriangle">
            <a:avLst/>
          </a:prstGeom>
          <a:solidFill>
            <a:srgbClr val="FF00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94305" name="线形标注 2 694304"/>
          <p:cNvSpPr/>
          <p:nvPr/>
        </p:nvSpPr>
        <p:spPr>
          <a:xfrm>
            <a:off x="3995738" y="3502025"/>
            <a:ext cx="1728787" cy="744538"/>
          </a:xfrm>
          <a:prstGeom prst="borderCallout2">
            <a:avLst>
              <a:gd name="adj1" fmla="val 15352"/>
              <a:gd name="adj2" fmla="val -4407"/>
              <a:gd name="adj3" fmla="val 15352"/>
              <a:gd name="adj4" fmla="val -25069"/>
              <a:gd name="adj5" fmla="val 129426"/>
              <a:gd name="adj6" fmla="val -47292"/>
            </a:avLst>
          </a:prstGeom>
          <a:solidFill>
            <a:srgbClr val="FFFFCC"/>
          </a:solidFill>
          <a:ln w="9525" cap="flat" cmpd="sng">
            <a:solidFill>
              <a:srgbClr val="FF3399"/>
            </a:solidFill>
            <a:prstDash val="solid"/>
            <a:miter/>
            <a:headEnd type="none" w="med" len="med"/>
            <a:tailEnd type="triangle" w="sm" len="med"/>
          </a:ln>
        </p:spPr>
        <p:txBody>
          <a:bodyPr lIns="72000" tIns="0" rIns="0" bIns="0"/>
          <a:p>
            <a:pPr defTabSz="1828800" eaLnBrk="0" hangingPunct="0"/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</a:rPr>
              <a:t>B212</a:t>
            </a: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</a:rPr>
              <a:t>:</a:t>
            </a:r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</a:rPr>
              <a:t>=(5,5),z</a:t>
            </a:r>
            <a:r>
              <a:rPr lang="en-US" altLang="zh-CN" sz="2200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</a:rPr>
              <a:t>=35</a:t>
            </a:r>
            <a:endParaRPr lang="en-US" altLang="zh-CN" sz="22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4306" name="文本框 694305"/>
          <p:cNvSpPr txBox="1"/>
          <p:nvPr/>
        </p:nvSpPr>
        <p:spPr>
          <a:xfrm>
            <a:off x="3059113" y="638175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endParaRPr lang="en-US" altLang="zh-CN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4307" name="文本框 694306"/>
          <p:cNvSpPr txBox="1"/>
          <p:nvPr/>
        </p:nvSpPr>
        <p:spPr>
          <a:xfrm>
            <a:off x="3222625" y="5667375"/>
            <a:ext cx="306388" cy="49847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91440" rIns="0" bIns="91440">
            <a:spAutoFit/>
          </a:bodyPr>
          <a:p>
            <a:pPr defTabSz="1828800" eaLnBrk="0" hangingPunct="0"/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endParaRPr lang="en-US" altLang="zh-CN" sz="20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694308" name="图片 694307" descr="BD14868_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5875" y="4005263"/>
            <a:ext cx="215900" cy="2159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94309" name="图片 694308" descr="BD14868_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59113" y="4365625"/>
            <a:ext cx="215900" cy="215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94311" name="标题 694310"/>
          <p:cNvSpPr>
            <a:spLocks noGrp="1"/>
          </p:cNvSpPr>
          <p:nvPr>
            <p:ph type="title"/>
          </p:nvPr>
        </p:nvSpPr>
        <p:spPr>
          <a:xfrm>
            <a:off x="468313" y="287814"/>
            <a:ext cx="8229600" cy="645160"/>
          </a:xfrm>
        </p:spPr>
        <p:txBody>
          <a:bodyPr anchor="ctr" anchorCtr="0">
            <a:spAutoFit/>
          </a:bodyPr>
          <a:p>
            <a:r>
              <a:rPr lang="en-US" altLang="zh-CN"/>
              <a:t> </a:t>
            </a:r>
            <a:r>
              <a:rPr lang="zh-CN" altLang="en-US" dirty="0"/>
              <a:t>分支定界解法</a:t>
            </a:r>
            <a:endParaRPr lang="zh-CN" altLang="en-US" dirty="0"/>
          </a:p>
        </p:txBody>
      </p:sp>
      <p:graphicFrame>
        <p:nvGraphicFramePr>
          <p:cNvPr id="694312" name="对象 694311"/>
          <p:cNvGraphicFramePr/>
          <p:nvPr/>
        </p:nvGraphicFramePr>
        <p:xfrm>
          <a:off x="5795963" y="1773238"/>
          <a:ext cx="3035300" cy="234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2" imgW="3035300" imgH="2349500" progId="Equation.DSMT4">
                  <p:embed/>
                </p:oleObj>
              </mc:Choice>
              <mc:Fallback>
                <p:oleObj name="" r:id="rId2" imgW="3035300" imgH="2349500" progId="Equation.DSMT4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795963" y="1773238"/>
                        <a:ext cx="3035300" cy="2349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4313" name="对象 694312"/>
          <p:cNvGraphicFramePr/>
          <p:nvPr/>
        </p:nvGraphicFramePr>
        <p:xfrm>
          <a:off x="6084888" y="4292600"/>
          <a:ext cx="2641600" cy="194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4" imgW="2641600" imgH="1943100" progId="Equation.DSMT4">
                  <p:embed/>
                </p:oleObj>
              </mc:Choice>
              <mc:Fallback>
                <p:oleObj name="" r:id="rId4" imgW="2641600" imgH="1943100" progId="Equation.DSMT4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084888" y="4292600"/>
                        <a:ext cx="2641600" cy="1943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4314" name="对象 694313"/>
          <p:cNvGraphicFramePr/>
          <p:nvPr/>
        </p:nvGraphicFramePr>
        <p:xfrm>
          <a:off x="371475" y="1052513"/>
          <a:ext cx="877252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6" imgW="7108825" imgH="393700" progId="Equation.DSMT4">
                  <p:embed/>
                </p:oleObj>
              </mc:Choice>
              <mc:Fallback>
                <p:oleObj name="" r:id="rId6" imgW="7108825" imgH="393700" progId="Equation.DSMT4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71475" y="1052513"/>
                        <a:ext cx="8772525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94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94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94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0" fill="hold"/>
                                        <p:tgtEl>
                                          <p:spTgt spid="6943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0" fill="hold"/>
                                        <p:tgtEl>
                                          <p:spTgt spid="6943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694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694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694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694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4302" grpId="0" animBg="1"/>
      <p:bldP spid="69430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5299" name="文本占位符 695298"/>
          <p:cNvSpPr txBox="1"/>
          <p:nvPr>
            <p:ph type="body" idx="1"/>
          </p:nvPr>
        </p:nvSpPr>
        <p:spPr>
          <a:xfrm>
            <a:off x="250825" y="1052513"/>
            <a:ext cx="4968875" cy="504825"/>
          </a:xfrm>
        </p:spPr>
        <p:txBody>
          <a:bodyPr vert="horz" wrap="square" lIns="91440" tIns="45720" rIns="91440" bIns="45720" anchor="t" anchorCtr="0"/>
          <a:p>
            <a:pPr marL="0" indent="0" defTabSz="1828800">
              <a:spcBef>
                <a:spcPct val="0"/>
              </a:spcBef>
              <a:buClr>
                <a:schemeClr val="bg1"/>
              </a:buClr>
            </a:pPr>
            <a:r>
              <a:rPr lang="zh-CN" altLang="en-US" sz="2400" b="1" dirty="0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上述分枝过程可用下图表示：</a:t>
            </a:r>
            <a:endParaRPr lang="zh-CN" altLang="en-US" sz="2400" b="1">
              <a:effectLst>
                <a:outerShdw blurRad="38100" dist="38100" dir="2700000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695300" name="文本框 695299"/>
          <p:cNvSpPr txBox="1"/>
          <p:nvPr/>
        </p:nvSpPr>
        <p:spPr>
          <a:xfrm>
            <a:off x="2520950" y="1698625"/>
            <a:ext cx="3657600" cy="374650"/>
          </a:xfrm>
          <a:prstGeom prst="rect">
            <a:avLst/>
          </a:prstGeom>
          <a:solidFill>
            <a:srgbClr val="66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36000" tIns="0" rIns="36000" bIns="0">
            <a:spAutoFit/>
          </a:bodyPr>
          <a:p>
            <a:pPr defTabSz="1828800"/>
            <a:r>
              <a:rPr lang="en-US" altLang="zh-CN" sz="2400" b="1" i="1">
                <a:solidFill>
                  <a:srgbClr val="FF3399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en-US" altLang="zh-CN" sz="2400" b="1">
                <a:solidFill>
                  <a:srgbClr val="FF3399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=(3.57,7.14),Z</a:t>
            </a:r>
            <a:r>
              <a:rPr lang="en-US" altLang="zh-CN" sz="2400" b="1" baseline="-2500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=35.7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95301" name="文本框 695300"/>
          <p:cNvSpPr txBox="1"/>
          <p:nvPr/>
        </p:nvSpPr>
        <p:spPr>
          <a:xfrm>
            <a:off x="539750" y="2917825"/>
            <a:ext cx="2590800" cy="739775"/>
          </a:xfrm>
          <a:prstGeom prst="rect">
            <a:avLst/>
          </a:prstGeom>
          <a:solidFill>
            <a:srgbClr val="66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36000" tIns="0" rIns="36000" bIns="0">
            <a:spAutoFit/>
          </a:bodyPr>
          <a:p>
            <a:pPr algn="ctr" defTabSz="1828800"/>
            <a:r>
              <a:rPr lang="en-US" altLang="zh-CN" sz="2400" b="1" i="1">
                <a:solidFill>
                  <a:srgbClr val="FF3399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en-US" altLang="zh-CN" sz="2400" b="1">
                <a:solidFill>
                  <a:srgbClr val="FF3399"/>
                </a:solidFill>
                <a:latin typeface="Times New Roman" panose="02020603050405020304" pitchFamily="18" charset="0"/>
                <a:ea typeface="楷体_GB2312" pitchFamily="49" charset="-122"/>
              </a:rPr>
              <a:t>1: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=(3,7.6)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defTabSz="1828800"/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         Z</a:t>
            </a:r>
            <a:r>
              <a:rPr lang="en-US" altLang="zh-CN" sz="2400" b="1" baseline="-25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=34.8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95302" name="文本框 695301"/>
          <p:cNvSpPr txBox="1"/>
          <p:nvPr/>
        </p:nvSpPr>
        <p:spPr>
          <a:xfrm>
            <a:off x="4654550" y="2917825"/>
            <a:ext cx="2438400" cy="739775"/>
          </a:xfrm>
          <a:prstGeom prst="rect">
            <a:avLst/>
          </a:prstGeom>
          <a:solidFill>
            <a:srgbClr val="66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36000" tIns="0" rIns="36000" bIns="0">
            <a:spAutoFit/>
          </a:bodyPr>
          <a:p>
            <a:pPr algn="ctr" defTabSz="1828800"/>
            <a:r>
              <a:rPr lang="en-US" altLang="zh-CN" sz="2400" b="1" i="1">
                <a:solidFill>
                  <a:srgbClr val="FF3399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en-US" altLang="zh-CN" sz="2400" b="1">
                <a:solidFill>
                  <a:srgbClr val="FF3399"/>
                </a:solidFill>
                <a:latin typeface="Times New Roman" panose="02020603050405020304" pitchFamily="18" charset="0"/>
                <a:ea typeface="楷体_GB2312" pitchFamily="49" charset="-122"/>
              </a:rPr>
              <a:t>2: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=(4,6.5)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defTabSz="1828800"/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         Z</a:t>
            </a:r>
            <a:r>
              <a:rPr lang="en-US" altLang="zh-CN" sz="2400" b="1" baseline="-25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=35.5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95303" name="直接连接符 695302"/>
          <p:cNvSpPr/>
          <p:nvPr/>
        </p:nvSpPr>
        <p:spPr>
          <a:xfrm flipH="1">
            <a:off x="2520950" y="2155825"/>
            <a:ext cx="1524000" cy="762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sm" len="lg"/>
          </a:ln>
        </p:spPr>
      </p:sp>
      <p:sp>
        <p:nvSpPr>
          <p:cNvPr id="695304" name="直接连接符 695303"/>
          <p:cNvSpPr/>
          <p:nvPr/>
        </p:nvSpPr>
        <p:spPr>
          <a:xfrm>
            <a:off x="4502150" y="2155825"/>
            <a:ext cx="1066800" cy="762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sm" len="lg"/>
          </a:ln>
        </p:spPr>
      </p:sp>
      <p:sp>
        <p:nvSpPr>
          <p:cNvPr id="695305" name="文本框 695304"/>
          <p:cNvSpPr txBox="1"/>
          <p:nvPr/>
        </p:nvSpPr>
        <p:spPr>
          <a:xfrm>
            <a:off x="2032000" y="2076450"/>
            <a:ext cx="1077913" cy="549275"/>
          </a:xfrm>
          <a:prstGeom prst="rect">
            <a:avLst/>
          </a:prstGeom>
          <a:noFill/>
          <a:ln w="9525">
            <a:noFill/>
          </a:ln>
        </p:spPr>
        <p:txBody>
          <a:bodyPr wrap="none" lIns="182880" tIns="91440" rIns="182880" bIns="91440" anchor="t" anchorCtr="0">
            <a:spAutoFit/>
          </a:bodyPr>
          <a:p>
            <a:pPr defTabSz="1828800"/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400" b="1" baseline="-25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≤3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95306" name="文本框 695305"/>
          <p:cNvSpPr txBox="1"/>
          <p:nvPr/>
        </p:nvSpPr>
        <p:spPr>
          <a:xfrm>
            <a:off x="4959350" y="2155825"/>
            <a:ext cx="1077913" cy="549275"/>
          </a:xfrm>
          <a:prstGeom prst="rect">
            <a:avLst/>
          </a:prstGeom>
          <a:noFill/>
          <a:ln w="9525">
            <a:noFill/>
          </a:ln>
        </p:spPr>
        <p:txBody>
          <a:bodyPr wrap="none" lIns="182880" tIns="91440" rIns="182880" bIns="91440" anchor="t" anchorCtr="0">
            <a:spAutoFit/>
          </a:bodyPr>
          <a:p>
            <a:pPr defTabSz="1828800"/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400" b="1" baseline="-25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≥4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95307" name="文本框 695306"/>
          <p:cNvSpPr txBox="1"/>
          <p:nvPr/>
        </p:nvSpPr>
        <p:spPr>
          <a:xfrm>
            <a:off x="2978150" y="4289425"/>
            <a:ext cx="2590800" cy="739775"/>
          </a:xfrm>
          <a:prstGeom prst="rect">
            <a:avLst/>
          </a:prstGeom>
          <a:solidFill>
            <a:srgbClr val="66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36000" tIns="0" rIns="36000" bIns="0">
            <a:spAutoFit/>
          </a:bodyPr>
          <a:p>
            <a:pPr algn="ctr" defTabSz="1828800"/>
            <a:r>
              <a:rPr lang="en-US" altLang="zh-CN" sz="2400" b="1" i="1">
                <a:solidFill>
                  <a:srgbClr val="FF3399"/>
                </a:solidFill>
                <a:latin typeface="Times New Roman" panose="02020603050405020304" pitchFamily="18" charset="0"/>
                <a:ea typeface="楷体_GB2312" pitchFamily="49" charset="-122"/>
              </a:rPr>
              <a:t>B21</a:t>
            </a:r>
            <a:r>
              <a:rPr lang="en-US" altLang="zh-CN" sz="2400" b="1">
                <a:solidFill>
                  <a:srgbClr val="FF3399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=(4.33,6)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defTabSz="1828800"/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         Z</a:t>
            </a:r>
            <a:r>
              <a:rPr lang="en-US" altLang="zh-CN" sz="2400" b="1" baseline="-25000"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=35.33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95308" name="直接连接符 695307"/>
          <p:cNvSpPr/>
          <p:nvPr/>
        </p:nvSpPr>
        <p:spPr>
          <a:xfrm flipH="1">
            <a:off x="4044950" y="3679825"/>
            <a:ext cx="121920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sm" len="lg"/>
          </a:ln>
        </p:spPr>
      </p:sp>
      <p:sp>
        <p:nvSpPr>
          <p:cNvPr id="695309" name="文本框 695308"/>
          <p:cNvSpPr txBox="1"/>
          <p:nvPr/>
        </p:nvSpPr>
        <p:spPr>
          <a:xfrm>
            <a:off x="3587750" y="3679825"/>
            <a:ext cx="1077913" cy="549275"/>
          </a:xfrm>
          <a:prstGeom prst="rect">
            <a:avLst/>
          </a:prstGeom>
          <a:noFill/>
          <a:ln w="9525">
            <a:noFill/>
          </a:ln>
        </p:spPr>
        <p:txBody>
          <a:bodyPr wrap="none" lIns="182880" tIns="91440" rIns="182880" bIns="91440" anchor="t" anchorCtr="0">
            <a:spAutoFit/>
          </a:bodyPr>
          <a:p>
            <a:pPr defTabSz="1828800"/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400" b="1" baseline="-25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≤6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95310" name="直接连接符 695309"/>
          <p:cNvSpPr/>
          <p:nvPr/>
        </p:nvSpPr>
        <p:spPr>
          <a:xfrm flipH="1">
            <a:off x="2825750" y="5051425"/>
            <a:ext cx="1066800" cy="762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sm" len="lg"/>
          </a:ln>
        </p:spPr>
      </p:sp>
      <p:sp>
        <p:nvSpPr>
          <p:cNvPr id="695311" name="文本框 695310"/>
          <p:cNvSpPr txBox="1"/>
          <p:nvPr/>
        </p:nvSpPr>
        <p:spPr>
          <a:xfrm>
            <a:off x="1606550" y="5805488"/>
            <a:ext cx="2286000" cy="739775"/>
          </a:xfrm>
          <a:prstGeom prst="rect">
            <a:avLst/>
          </a:prstGeom>
          <a:solidFill>
            <a:srgbClr val="66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36000" tIns="0" rIns="36000" bIns="0">
            <a:spAutoFit/>
          </a:bodyPr>
          <a:p>
            <a:pPr algn="ctr" defTabSz="1828800" eaLnBrk="0" hangingPunct="0"/>
            <a:r>
              <a:rPr lang="en-US" altLang="zh-CN" sz="2400" b="1" i="1">
                <a:solidFill>
                  <a:srgbClr val="FF3399"/>
                </a:solidFill>
                <a:latin typeface="Times New Roman" panose="02020603050405020304" pitchFamily="18" charset="0"/>
                <a:ea typeface="楷体_GB2312" pitchFamily="49" charset="-122"/>
              </a:rPr>
              <a:t>B211</a:t>
            </a:r>
            <a:r>
              <a:rPr lang="en-US" altLang="zh-CN" sz="2400" b="1">
                <a:solidFill>
                  <a:srgbClr val="FF3399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=(4,6)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defTabSz="1828800" eaLnBrk="0" hangingPunct="0"/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         Z</a:t>
            </a:r>
            <a:r>
              <a:rPr lang="en-US" altLang="zh-CN" sz="2400" b="1" baseline="-25000">
                <a:latin typeface="Times New Roman" panose="02020603050405020304" pitchFamily="18" charset="0"/>
                <a:ea typeface="楷体_GB2312" pitchFamily="49" charset="-122"/>
              </a:rPr>
              <a:t>5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=34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95312" name="文本框 695311"/>
          <p:cNvSpPr txBox="1"/>
          <p:nvPr/>
        </p:nvSpPr>
        <p:spPr>
          <a:xfrm>
            <a:off x="4806950" y="5813425"/>
            <a:ext cx="2133600" cy="739775"/>
          </a:xfrm>
          <a:prstGeom prst="rect">
            <a:avLst/>
          </a:prstGeom>
          <a:solidFill>
            <a:srgbClr val="66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36000" tIns="0" rIns="36000" bIns="0">
            <a:spAutoFit/>
          </a:bodyPr>
          <a:p>
            <a:pPr algn="ctr" defTabSz="1828800" eaLnBrk="0" hangingPunct="0"/>
            <a:r>
              <a:rPr lang="en-US" altLang="zh-CN" sz="2400" b="1" i="1">
                <a:solidFill>
                  <a:srgbClr val="FF3399"/>
                </a:solidFill>
                <a:latin typeface="Times New Roman" panose="02020603050405020304" pitchFamily="18" charset="0"/>
                <a:ea typeface="楷体_GB2312" pitchFamily="49" charset="-122"/>
              </a:rPr>
              <a:t>B212</a:t>
            </a:r>
            <a:r>
              <a:rPr lang="en-US" altLang="zh-CN" sz="2400" b="1">
                <a:solidFill>
                  <a:srgbClr val="FF3399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=(5,5)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defTabSz="1828800" eaLnBrk="0" hangingPunct="0"/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         Z</a:t>
            </a:r>
            <a:r>
              <a:rPr lang="en-US" altLang="zh-CN" sz="2400" b="1" baseline="-25000">
                <a:latin typeface="Times New Roman" panose="02020603050405020304" pitchFamily="18" charset="0"/>
                <a:ea typeface="楷体_GB2312" pitchFamily="49" charset="-122"/>
              </a:rPr>
              <a:t>6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=35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95313" name="直接连接符 695312"/>
          <p:cNvSpPr/>
          <p:nvPr/>
        </p:nvSpPr>
        <p:spPr>
          <a:xfrm>
            <a:off x="4806950" y="5051425"/>
            <a:ext cx="1066800" cy="762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sm" len="lg"/>
          </a:ln>
        </p:spPr>
      </p:sp>
      <p:sp>
        <p:nvSpPr>
          <p:cNvPr id="695314" name="文本框 695313"/>
          <p:cNvSpPr txBox="1"/>
          <p:nvPr/>
        </p:nvSpPr>
        <p:spPr>
          <a:xfrm>
            <a:off x="2281238" y="5089525"/>
            <a:ext cx="1077912" cy="549275"/>
          </a:xfrm>
          <a:prstGeom prst="rect">
            <a:avLst/>
          </a:prstGeom>
          <a:noFill/>
          <a:ln w="9525">
            <a:noFill/>
          </a:ln>
        </p:spPr>
        <p:txBody>
          <a:bodyPr wrap="none" lIns="182880" tIns="91440" rIns="182880" bIns="91440" anchor="t" anchorCtr="0">
            <a:spAutoFit/>
          </a:bodyPr>
          <a:p>
            <a:pPr defTabSz="1828800"/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400" b="1" baseline="-25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≤4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95315" name="文本框 695314"/>
          <p:cNvSpPr txBox="1"/>
          <p:nvPr/>
        </p:nvSpPr>
        <p:spPr>
          <a:xfrm>
            <a:off x="5416550" y="5051425"/>
            <a:ext cx="1077913" cy="549275"/>
          </a:xfrm>
          <a:prstGeom prst="rect">
            <a:avLst/>
          </a:prstGeom>
          <a:noFill/>
          <a:ln w="9525">
            <a:noFill/>
          </a:ln>
        </p:spPr>
        <p:txBody>
          <a:bodyPr wrap="none" lIns="182880" tIns="91440" rIns="182880" bIns="91440" anchor="t" anchorCtr="0">
            <a:spAutoFit/>
          </a:bodyPr>
          <a:p>
            <a:pPr defTabSz="1828800"/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400" b="1" baseline="-25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≥5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95316" name="文本框 695315"/>
          <p:cNvSpPr txBox="1"/>
          <p:nvPr/>
        </p:nvSpPr>
        <p:spPr>
          <a:xfrm>
            <a:off x="6483350" y="4289425"/>
            <a:ext cx="1447800" cy="739775"/>
          </a:xfrm>
          <a:prstGeom prst="rect">
            <a:avLst/>
          </a:prstGeom>
          <a:solidFill>
            <a:srgbClr val="66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36000" tIns="0" rIns="36000" bIns="0">
            <a:spAutoFit/>
          </a:bodyPr>
          <a:p>
            <a:pPr algn="ctr" defTabSz="1828800"/>
            <a:r>
              <a:rPr lang="en-US" altLang="zh-CN" sz="2400" b="1" i="1">
                <a:solidFill>
                  <a:srgbClr val="FF3399"/>
                </a:solidFill>
                <a:latin typeface="Times New Roman" panose="02020603050405020304" pitchFamily="18" charset="0"/>
                <a:ea typeface="楷体_GB2312" pitchFamily="49" charset="-122"/>
              </a:rPr>
              <a:t>B22</a:t>
            </a:r>
            <a:endParaRPr lang="en-US" altLang="zh-CN" sz="2400" b="1">
              <a:solidFill>
                <a:srgbClr val="FF33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ctr" defTabSz="1828800"/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无可行解</a:t>
            </a:r>
            <a:endParaRPr lang="zh-CN" altLang="en-US" sz="24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95317" name="文本框 695316"/>
          <p:cNvSpPr txBox="1"/>
          <p:nvPr/>
        </p:nvSpPr>
        <p:spPr>
          <a:xfrm>
            <a:off x="6940550" y="3679825"/>
            <a:ext cx="1077913" cy="549275"/>
          </a:xfrm>
          <a:prstGeom prst="rect">
            <a:avLst/>
          </a:prstGeom>
          <a:noFill/>
          <a:ln w="9525">
            <a:noFill/>
          </a:ln>
        </p:spPr>
        <p:txBody>
          <a:bodyPr wrap="none" lIns="182880" tIns="91440" rIns="182880" bIns="91440" anchor="t" anchorCtr="0">
            <a:spAutoFit/>
          </a:bodyPr>
          <a:p>
            <a:pPr defTabSz="1828800"/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400" b="1" baseline="-25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≥7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95318" name="直接连接符 695317"/>
          <p:cNvSpPr/>
          <p:nvPr/>
        </p:nvSpPr>
        <p:spPr>
          <a:xfrm>
            <a:off x="6330950" y="3679825"/>
            <a:ext cx="91440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sm" len="lg"/>
          </a:ln>
        </p:spPr>
      </p:sp>
      <p:sp>
        <p:nvSpPr>
          <p:cNvPr id="695320" name="标题 695319"/>
          <p:cNvSpPr>
            <a:spLocks noGrp="1"/>
          </p:cNvSpPr>
          <p:nvPr>
            <p:ph type="title"/>
          </p:nvPr>
        </p:nvSpPr>
        <p:spPr>
          <a:xfrm>
            <a:off x="468313" y="287814"/>
            <a:ext cx="8229600" cy="645160"/>
          </a:xfrm>
        </p:spPr>
        <p:txBody>
          <a:bodyPr anchor="ctr" anchorCtr="0">
            <a:spAutoFit/>
          </a:bodyPr>
          <a:p>
            <a:r>
              <a:rPr lang="en-US" altLang="zh-CN"/>
              <a:t>  </a:t>
            </a:r>
            <a:r>
              <a:rPr lang="zh-CN" altLang="en-US" dirty="0"/>
              <a:t>分支定界解法</a:t>
            </a:r>
            <a:endParaRPr lang="zh-CN" altLang="en-US" dirty="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95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95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695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695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695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695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695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695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695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695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695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695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500"/>
                                        <p:tgtEl>
                                          <p:spTgt spid="695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500"/>
                                        <p:tgtEl>
                                          <p:spTgt spid="695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7" dur="500"/>
                                        <p:tgtEl>
                                          <p:spTgt spid="695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2" dur="500"/>
                                        <p:tgtEl>
                                          <p:spTgt spid="695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7" dur="500"/>
                                        <p:tgtEl>
                                          <p:spTgt spid="695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2" dur="500"/>
                                        <p:tgtEl>
                                          <p:spTgt spid="695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7" dur="500"/>
                                        <p:tgtEl>
                                          <p:spTgt spid="695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2" dur="500"/>
                                        <p:tgtEl>
                                          <p:spTgt spid="695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5299" grpId="0"/>
      <p:bldP spid="695300" grpId="0" animBg="1"/>
      <p:bldP spid="695301" grpId="0" animBg="1"/>
      <p:bldP spid="695302" grpId="0" animBg="1"/>
      <p:bldP spid="695305" grpId="0"/>
      <p:bldP spid="695306" grpId="0"/>
      <p:bldP spid="695307" grpId="0" animBg="1"/>
      <p:bldP spid="695309" grpId="0"/>
      <p:bldP spid="695311" grpId="0" animBg="1"/>
      <p:bldP spid="695312" grpId="0" animBg="1"/>
      <p:bldP spid="695314" grpId="0"/>
      <p:bldP spid="695315" grpId="0"/>
      <p:bldP spid="695316" grpId="0" animBg="1"/>
      <p:bldP spid="69531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8313" y="291148"/>
            <a:ext cx="8229600" cy="640080"/>
          </a:xfrm>
        </p:spPr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 sz="1400"/>
              <a:t>from scipy import optimize</a:t>
            </a:r>
            <a:endParaRPr lang="en-US" altLang="zh-CN" sz="1400"/>
          </a:p>
          <a:p>
            <a:pPr marL="0" indent="0">
              <a:buNone/>
            </a:pPr>
            <a:r>
              <a:rPr lang="en-US" altLang="zh-CN" sz="1400"/>
              <a:t>import numpy as np</a:t>
            </a:r>
            <a:endParaRPr lang="en-US" altLang="zh-CN" sz="1400"/>
          </a:p>
          <a:p>
            <a:pPr marL="0" indent="0">
              <a:buNone/>
            </a:pPr>
            <a:r>
              <a:rPr lang="en-US" altLang="zh-CN" sz="1400"/>
              <a:t>import math</a:t>
            </a:r>
            <a:endParaRPr lang="en-US" altLang="zh-CN" sz="1400"/>
          </a:p>
          <a:p>
            <a:pPr marL="0" indent="0">
              <a:buNone/>
            </a:pPr>
            <a:r>
              <a:rPr lang="en-US" altLang="zh-CN" sz="1400"/>
              <a:t># </a:t>
            </a:r>
            <a:r>
              <a:rPr lang="zh-CN" altLang="en-US" sz="1400"/>
              <a:t>输入待求问题</a:t>
            </a:r>
            <a:endParaRPr lang="zh-CN" altLang="en-US" sz="1400"/>
          </a:p>
          <a:p>
            <a:pPr marL="0" indent="0">
              <a:buNone/>
            </a:pPr>
            <a:r>
              <a:rPr lang="en-US" altLang="zh-CN" sz="1400"/>
              <a:t>c = np.array([40, 90])</a:t>
            </a:r>
            <a:endParaRPr lang="en-US" altLang="zh-CN" sz="1400"/>
          </a:p>
          <a:p>
            <a:pPr marL="0" indent="0">
              <a:buNone/>
            </a:pPr>
            <a:r>
              <a:rPr lang="en-US" altLang="zh-CN" sz="1400"/>
              <a:t>A = np.array([[9, 7], [7, 20]])</a:t>
            </a:r>
            <a:endParaRPr lang="en-US" altLang="zh-CN" sz="1400"/>
          </a:p>
          <a:p>
            <a:pPr marL="0" indent="0">
              <a:buNone/>
            </a:pPr>
            <a:r>
              <a:rPr lang="en-US" altLang="zh-CN" sz="1400"/>
              <a:t>b = np.array([56, 70])</a:t>
            </a:r>
            <a:endParaRPr lang="en-US" altLang="zh-CN" sz="1400"/>
          </a:p>
          <a:p>
            <a:pPr marL="0" indent="0">
              <a:buNone/>
            </a:pPr>
            <a:r>
              <a:rPr lang="en-US" altLang="zh-CN" sz="1400"/>
              <a:t>Aeq = None</a:t>
            </a:r>
            <a:endParaRPr lang="en-US" altLang="zh-CN" sz="1400"/>
          </a:p>
          <a:p>
            <a:pPr marL="0" indent="0">
              <a:buNone/>
            </a:pPr>
            <a:r>
              <a:rPr lang="en-US" altLang="zh-CN" sz="1400"/>
              <a:t>beq = None</a:t>
            </a:r>
            <a:endParaRPr lang="en-US" altLang="zh-CN" sz="1400"/>
          </a:p>
          <a:p>
            <a:pPr marL="0" indent="0">
              <a:buNone/>
            </a:pPr>
            <a:r>
              <a:rPr lang="en-US" altLang="zh-CN" sz="1400"/>
              <a:t>bounds = np.array([[0, None], [0, None]])  # </a:t>
            </a:r>
            <a:r>
              <a:rPr lang="zh-CN" altLang="en-US" sz="1400"/>
              <a:t>变量的上下界</a:t>
            </a:r>
            <a:endParaRPr lang="en-US" altLang="zh-CN" sz="1400"/>
          </a:p>
          <a:p>
            <a:pPr marL="0" indent="0">
              <a:buNone/>
            </a:pPr>
            <a:r>
              <a:rPr lang="en-US" altLang="zh-CN" sz="1400"/>
              <a:t>def integer_programming(c, A, b, Aeq, beq, bounds):</a:t>
            </a:r>
            <a:endParaRPr lang="en-US" altLang="zh-CN" sz="1400"/>
          </a:p>
          <a:p>
            <a:pPr marL="0" indent="0">
              <a:buNone/>
            </a:pPr>
            <a:r>
              <a:rPr lang="en-US" altLang="zh-CN" sz="1400"/>
              <a:t> results = []  # </a:t>
            </a:r>
            <a:r>
              <a:rPr lang="zh-CN" altLang="en-US" sz="1400"/>
              <a:t>储存整数解对应的函数值</a:t>
            </a:r>
            <a:endParaRPr lang="zh-CN" altLang="en-US" sz="1400"/>
          </a:p>
          <a:p>
            <a:pPr marL="0" indent="0">
              <a:buNone/>
            </a:pPr>
            <a:r>
              <a:rPr lang="en-US" altLang="zh-CN" sz="1400"/>
              <a:t> results_variable = []  # </a:t>
            </a:r>
            <a:r>
              <a:rPr lang="zh-CN" altLang="en-US" sz="1400"/>
              <a:t>储存整数解</a:t>
            </a:r>
            <a:endParaRPr lang="en-US" altLang="zh-CN" sz="1400"/>
          </a:p>
          <a:p>
            <a:pPr marL="0" indent="0">
              <a:buNone/>
            </a:pPr>
            <a:r>
              <a:rPr lang="en-US" altLang="zh-CN" sz="1400"/>
              <a:t> def check_solve_int(best_solve):</a:t>
            </a:r>
            <a:endParaRPr lang="en-US" altLang="zh-CN" sz="1400"/>
          </a:p>
          <a:p>
            <a:pPr marL="0" indent="0">
              <a:buNone/>
            </a:pPr>
            <a:r>
              <a:rPr lang="en-US" altLang="zh-CN" sz="1400"/>
              <a:t> frac_index = []  check_int = np.equal(best_solve, [round(int(num), 2) for num in best_solve]).all()          if check_int:</a:t>
            </a:r>
            <a:endParaRPr lang="en-US" altLang="zh-CN" sz="1400"/>
          </a:p>
          <a:p>
            <a:pPr marL="0" indent="0">
              <a:buNone/>
            </a:pPr>
            <a:r>
              <a:rPr lang="en-US" altLang="zh-CN" sz="1400"/>
              <a:t> pass</a:t>
            </a:r>
            <a:endParaRPr lang="en-US" altLang="zh-CN" sz="1400"/>
          </a:p>
          <a:p>
            <a:pPr marL="0" indent="0">
              <a:buNone/>
            </a:pPr>
            <a:r>
              <a:rPr lang="en-US" altLang="zh-CN" sz="1400"/>
              <a:t> else:</a:t>
            </a:r>
            <a:endParaRPr lang="en-US" altLang="zh-CN" sz="1400"/>
          </a:p>
          <a:p>
            <a:r>
              <a:rPr lang="en-US" altLang="zh-CN" sz="1400"/>
              <a:t>            </a:t>
            </a:r>
            <a:endParaRPr lang="en-US" altLang="zh-CN" sz="1400"/>
          </a:p>
        </p:txBody>
      </p:sp>
    </p:spTree>
  </p:cSld>
  <p:clrMapOvr>
    <a:masterClrMapping/>
  </p:clrMapOvr>
  <p:transition>
    <p:blinds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8313" y="291148"/>
            <a:ext cx="8229600" cy="640080"/>
          </a:xfrm>
        </p:spPr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630" y="1198880"/>
            <a:ext cx="8500110" cy="6487795"/>
          </a:xfrm>
        </p:spPr>
        <p:txBody>
          <a:bodyPr/>
          <a:p>
            <a:r>
              <a:rPr lang="en-US" altLang="zh-CN" sz="1400">
                <a:sym typeface="+mn-ea"/>
              </a:rPr>
              <a:t>for i, element in enumerate(best_solve):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                if element != int(element):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                    frac_index.append(i)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        return check_int, frac_index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    def branch_bound(bounds_branch):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             res = optimize.linprog(-c, A, b, Aeq, beq, bounds_branch)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        best_solve = res.x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        best_solve = [round(num, 3) for num in best_solve]  # </a:t>
            </a:r>
            <a:r>
              <a:rPr lang="zh-CN" altLang="en-US" sz="1400">
                <a:sym typeface="+mn-ea"/>
              </a:rPr>
              <a:t>简便运算保留两位小数</a:t>
            </a:r>
            <a:endParaRPr lang="zh-CN" altLang="en-US" sz="1400"/>
          </a:p>
          <a:p>
            <a:r>
              <a:rPr lang="en-US" altLang="zh-CN" sz="1400">
                <a:sym typeface="+mn-ea"/>
              </a:rPr>
              <a:t>        print("obj &amp; solve:", round(res.fun, 2), best_solve)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        check_int, frac_index = check_solve_int(best_solve)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        if check_int: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            best_obj = abs(round(res.fun, 2))  # </a:t>
            </a:r>
            <a:r>
              <a:rPr lang="zh-CN" altLang="en-US" sz="1400">
                <a:sym typeface="+mn-ea"/>
              </a:rPr>
              <a:t>得到整数解的函数值</a:t>
            </a:r>
            <a:endParaRPr lang="zh-CN" altLang="en-US" sz="1400"/>
          </a:p>
          <a:p>
            <a:r>
              <a:rPr lang="en-US" altLang="zh-CN" sz="1400">
                <a:sym typeface="+mn-ea"/>
              </a:rPr>
              <a:t>            results.append(best_obj)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            results_variable.append(best_solve)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        else: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            bounds_new = np.copy(bounds_branch)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          </a:t>
            </a:r>
            <a:endParaRPr lang="zh-CN" altLang="en-US" sz="1400"/>
          </a:p>
        </p:txBody>
      </p:sp>
    </p:spTree>
  </p:cSld>
  <p:clrMapOvr>
    <a:masterClrMapping/>
  </p:clrMapOvr>
  <p:transition>
    <p:blinds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8313" y="291148"/>
            <a:ext cx="8229600" cy="640080"/>
          </a:xfrm>
        </p:spPr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 sz="1400">
                <a:sym typeface="+mn-ea"/>
              </a:rPr>
              <a:t>  # </a:t>
            </a:r>
            <a:r>
              <a:rPr lang="zh-CN" altLang="en-US" sz="1400">
                <a:sym typeface="+mn-ea"/>
              </a:rPr>
              <a:t>选取非整数变量分支</a:t>
            </a:r>
            <a:endParaRPr lang="zh-CN" altLang="en-US" sz="1400"/>
          </a:p>
          <a:p>
            <a:r>
              <a:rPr lang="en-US" altLang="zh-CN" sz="1400">
                <a:sym typeface="+mn-ea"/>
              </a:rPr>
              <a:t>            for i in range(len(frac_index)):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                x_bound = best_solve[frac_index[i]]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                          x_bound = math.floor(x_bound)  # </a:t>
            </a:r>
            <a:r>
              <a:rPr lang="zh-CN" altLang="en-US" sz="1400">
                <a:sym typeface="+mn-ea"/>
              </a:rPr>
              <a:t>下</a:t>
            </a:r>
            <a:r>
              <a:rPr lang="en-US" altLang="zh-CN" sz="1400">
                <a:sym typeface="+mn-ea"/>
              </a:rPr>
              <a:t>/</a:t>
            </a:r>
            <a:r>
              <a:rPr lang="zh-CN" altLang="en-US" sz="1400">
                <a:sym typeface="+mn-ea"/>
              </a:rPr>
              <a:t>上界</a:t>
            </a:r>
            <a:endParaRPr lang="zh-CN" altLang="en-US" sz="1400"/>
          </a:p>
          <a:p>
            <a:r>
              <a:rPr lang="en-US" altLang="zh-CN" sz="1400">
                <a:sym typeface="+mn-ea"/>
              </a:rPr>
              <a:t>                bounds_new[frac_index[i]][1] = x_bound  # </a:t>
            </a:r>
            <a:r>
              <a:rPr lang="zh-CN" altLang="en-US" sz="1400">
                <a:sym typeface="+mn-ea"/>
              </a:rPr>
              <a:t>修改约束条件的下</a:t>
            </a:r>
            <a:r>
              <a:rPr lang="en-US" altLang="zh-CN" sz="1400">
                <a:sym typeface="+mn-ea"/>
              </a:rPr>
              <a:t>/</a:t>
            </a:r>
            <a:r>
              <a:rPr lang="zh-CN" altLang="en-US" sz="1400">
                <a:sym typeface="+mn-ea"/>
              </a:rPr>
              <a:t>上界</a:t>
            </a:r>
            <a:endParaRPr lang="zh-CN" altLang="en-US" sz="1400"/>
          </a:p>
          <a:p>
            <a:r>
              <a:rPr lang="en-US" altLang="zh-CN" sz="1400">
                <a:sym typeface="+mn-ea"/>
              </a:rPr>
              <a:t>                branch_bound(bounds_new)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        return results, results_variable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    results, results_variable = branch_bound(bounds)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    best_obj = max(results)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    best_obj_index = results.index(best_obj)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    best_solve = results_variable[best_obj_index]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    return best_solve, best_obj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best_solve, best_obj = integer_programming(c, A, b, Aeq, beq, bounds)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print("\n</a:t>
            </a:r>
            <a:r>
              <a:rPr lang="zh-CN" altLang="en-US" sz="1400">
                <a:sym typeface="+mn-ea"/>
              </a:rPr>
              <a:t>最优解：</a:t>
            </a:r>
            <a:r>
              <a:rPr lang="en-US" altLang="zh-CN" sz="1400">
                <a:sym typeface="+mn-ea"/>
              </a:rPr>
              <a:t>", best_solve)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print("</a:t>
            </a:r>
            <a:r>
              <a:rPr lang="zh-CN" altLang="en-US" sz="1400">
                <a:sym typeface="+mn-ea"/>
              </a:rPr>
              <a:t>最优解函数值：</a:t>
            </a:r>
            <a:r>
              <a:rPr lang="en-US" altLang="zh-CN" sz="1400">
                <a:sym typeface="+mn-ea"/>
              </a:rPr>
              <a:t>", best_obj)</a:t>
            </a:r>
            <a:endParaRPr lang="en-US" altLang="zh-CN" sz="1400"/>
          </a:p>
          <a:p>
            <a:endParaRPr lang="zh-CN" altLang="en-US" sz="1400"/>
          </a:p>
          <a:p>
            <a:endParaRPr lang="zh-CN" altLang="en-US" sz="1400"/>
          </a:p>
        </p:txBody>
      </p:sp>
    </p:spTree>
  </p:cSld>
  <p:clrMapOvr>
    <a:masterClrMapping/>
  </p:clrMapOvr>
  <p:transition>
    <p:blinds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5666" name="标题 625665"/>
          <p:cNvSpPr>
            <a:spLocks noGrp="1"/>
          </p:cNvSpPr>
          <p:nvPr>
            <p:ph type="ctrTitle"/>
          </p:nvPr>
        </p:nvSpPr>
        <p:spPr>
          <a:xfrm>
            <a:off x="684213" y="1700213"/>
            <a:ext cx="7772400" cy="914400"/>
          </a:xfrm>
        </p:spPr>
        <p:txBody>
          <a:bodyPr anchor="ctr" anchorCtr="0">
            <a:spAutoFit/>
          </a:bodyPr>
          <a:p>
            <a:pPr defTabSz="914400">
              <a:buSzTx/>
              <a:buFontTx/>
              <a:buNone/>
            </a:pPr>
            <a:r>
              <a:rPr lang="en-US" altLang="zh-CN" kern="1200" baseline="0">
                <a:latin typeface="Arial" panose="020B0604020202020204" pitchFamily="34" charset="0"/>
                <a:ea typeface="黑体" panose="02010609060101010101" pitchFamily="2" charset="-122"/>
              </a:rPr>
              <a:t>The </a:t>
            </a:r>
            <a:r>
              <a:rPr lang="en-US" altLang="zh-CN" kern="1200" baseline="0" err="1">
                <a:latin typeface="Arial" panose="020B0604020202020204" pitchFamily="34" charset="0"/>
                <a:ea typeface="黑体" panose="02010609060101010101" pitchFamily="2" charset="-122"/>
              </a:rPr>
              <a:t>end,thank</a:t>
            </a:r>
            <a:r>
              <a:rPr lang="en-US" altLang="zh-CN" kern="1200" baseline="0">
                <a:latin typeface="Arial" panose="020B0604020202020204" pitchFamily="34" charset="0"/>
                <a:ea typeface="黑体" panose="02010609060101010101" pitchFamily="2" charset="-122"/>
              </a:rPr>
              <a:t> you!</a:t>
            </a:r>
            <a:endParaRPr lang="zh-CN" altLang="en-US" kern="1200" baseline="0" dirty="0"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sp>
        <p:nvSpPr>
          <p:cNvPr id="625667" name="副标题 625666"/>
          <p:cNvSpPr>
            <a:spLocks noGrp="1"/>
          </p:cNvSpPr>
          <p:nvPr>
            <p:ph type="subTitle" idx="1"/>
          </p:nvPr>
        </p:nvSpPr>
        <p:spPr>
          <a:xfrm>
            <a:off x="1258888" y="2997200"/>
            <a:ext cx="6400800" cy="762000"/>
          </a:xfrm>
        </p:spPr>
        <p:txBody>
          <a:bodyPr anchor="t" anchorCtr="0">
            <a:spAutoFit/>
          </a:bodyPr>
          <a:p>
            <a:pPr defTabSz="914400">
              <a:buSzTx/>
            </a:pPr>
            <a:endParaRPr kern="1200" baseline="0" dirty="0"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>
    <p:blinds/>
  </p:transition>
</p:sld>
</file>

<file path=ppt/theme/theme1.xml><?xml version="1.0" encoding="utf-8"?>
<a:theme xmlns:a="http://schemas.openxmlformats.org/drawingml/2006/main" name="课件=白底蓝天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5B8CC1"/>
      </a:accent1>
      <a:accent2>
        <a:srgbClr val="333399"/>
      </a:accent2>
      <a:accent3>
        <a:srgbClr val="FFFFFF"/>
      </a:accent3>
      <a:accent4>
        <a:srgbClr val="000000"/>
      </a:accent4>
      <a:accent5>
        <a:srgbClr val="B6C5DC"/>
      </a:accent5>
      <a:accent6>
        <a:srgbClr val="2D2D89"/>
      </a:accent6>
      <a:hlink>
        <a:srgbClr val="002850"/>
      </a:hlink>
      <a:folHlink>
        <a:srgbClr val="66B2FE"/>
      </a:folHlink>
    </a:clrScheme>
    <a:fontScheme name="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5B8CC1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B6C5DC"/>
        </a:accent5>
        <a:accent6>
          <a:srgbClr val="2D2D89"/>
        </a:accent6>
        <a:hlink>
          <a:srgbClr val="002850"/>
        </a:hlink>
        <a:folHlink>
          <a:srgbClr val="66B2F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笔之翼</Template>
  <TotalTime>0</TotalTime>
  <Words>3907</Words>
  <Application>WPS 演示</Application>
  <PresentationFormat>在屏幕上显示</PresentationFormat>
  <Paragraphs>377</Paragraphs>
  <Slides>24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31</vt:i4>
      </vt:variant>
      <vt:variant>
        <vt:lpstr>幻灯片标题</vt:lpstr>
      </vt:variant>
      <vt:variant>
        <vt:i4>24</vt:i4>
      </vt:variant>
    </vt:vector>
  </HeadingPairs>
  <TitlesOfParts>
    <vt:vector size="67" baseType="lpstr">
      <vt:lpstr>Arial</vt:lpstr>
      <vt:lpstr>宋体</vt:lpstr>
      <vt:lpstr>Wingdings</vt:lpstr>
      <vt:lpstr>Times New Roman</vt:lpstr>
      <vt:lpstr>华文细黑</vt:lpstr>
      <vt:lpstr>黑体</vt:lpstr>
      <vt:lpstr>楷体_GB2312</vt:lpstr>
      <vt:lpstr>新宋体</vt:lpstr>
      <vt:lpstr>Tahoma</vt:lpstr>
      <vt:lpstr>微软雅黑</vt:lpstr>
      <vt:lpstr>Arial Unicode MS</vt:lpstr>
      <vt:lpstr>课件=白底蓝天</vt:lpstr>
      <vt:lpstr>Equation.DSMT4</vt:lpstr>
      <vt:lpstr>Equation.DSMT4</vt:lpstr>
      <vt:lpstr>Word.Document.8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  分支定界解法</vt:lpstr>
      <vt:lpstr>分支定界解法</vt:lpstr>
      <vt:lpstr> 分支定界解法</vt:lpstr>
      <vt:lpstr> 分支定界解法</vt:lpstr>
      <vt:lpstr> 分支定界解法</vt:lpstr>
      <vt:lpstr>分支定界解法</vt:lpstr>
      <vt:lpstr> 分支定界解法</vt:lpstr>
      <vt:lpstr>  分支定界解法</vt:lpstr>
      <vt:lpstr> 分支定界解法</vt:lpstr>
      <vt:lpstr>  分支定界解法</vt:lpstr>
      <vt:lpstr> 分支定界解法</vt:lpstr>
      <vt:lpstr>  分支定界解法</vt:lpstr>
      <vt:lpstr>  分支定界解法</vt:lpstr>
      <vt:lpstr> 分支定界解法</vt:lpstr>
      <vt:lpstr>  分支定界解法</vt:lpstr>
      <vt:lpstr> 分支定界解法</vt:lpstr>
      <vt:lpstr>  分支定界解法</vt:lpstr>
      <vt:lpstr> 分支定界解法</vt:lpstr>
      <vt:lpstr>  分支定界解法</vt:lpstr>
      <vt:lpstr>PowerPoint 演示文稿</vt:lpstr>
      <vt:lpstr>PowerPoint 演示文稿</vt:lpstr>
      <vt:lpstr>PowerPoint 演示文稿</vt:lpstr>
      <vt:lpstr>The end,thank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运筹学</dc:title>
  <dc:creator>bbxy</dc:creator>
  <cp:lastModifiedBy>东东</cp:lastModifiedBy>
  <cp:revision>1001</cp:revision>
  <dcterms:created xsi:type="dcterms:W3CDTF">2004-07-03T08:33:00Z</dcterms:created>
  <dcterms:modified xsi:type="dcterms:W3CDTF">2024-12-27T08:08:29Z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482DF6BE1E6C49258E580771192B8957_12</vt:lpwstr>
  </property>
  <property fmtid="{D5CDD505-2E9C-101B-9397-08002B2CF9AE}" pid="3" name="KSOProductBuildVer">
    <vt:lpwstr>2052-12.1.0.19770</vt:lpwstr>
  </property>
</Properties>
</file>